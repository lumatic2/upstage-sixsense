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andali" charset="1" panose="020006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hyperlink" Target="https://sixsense.askewly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xsense.askewly.com" TargetMode="Externa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xsense.askewly.com" TargetMode="External"/><Relationship Id="rId3" Type="http://schemas.openxmlformats.org/officeDocument/2006/relationships/hyperlink" Target="https://github.com/lumatic2/upstage-sixsens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2682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687175" y="228600"/>
            <a:ext cx="6600825" cy="10058400"/>
            <a:chOff x="0" y="0"/>
            <a:chExt cx="8801100" cy="134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01100" cy="13411200"/>
            </a:xfrm>
            <a:custGeom>
              <a:avLst/>
              <a:gdLst/>
              <a:ahLst/>
              <a:cxnLst/>
              <a:rect r="r" b="b" t="t" l="l"/>
              <a:pathLst>
                <a:path h="13411200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13411200"/>
                  </a:lnTo>
                  <a:lnTo>
                    <a:pt x="0" y="13411200"/>
                  </a:lnTo>
                  <a:close/>
                </a:path>
              </a:pathLst>
            </a:custGeom>
            <a:solidFill>
              <a:srgbClr val="F2682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287125" y="885825"/>
            <a:ext cx="6257925" cy="8201025"/>
            <a:chOff x="0" y="0"/>
            <a:chExt cx="8343900" cy="10934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43900" cy="10934700"/>
            </a:xfrm>
            <a:custGeom>
              <a:avLst/>
              <a:gdLst/>
              <a:ahLst/>
              <a:cxnLst/>
              <a:rect r="r" b="b" t="t" l="l"/>
              <a:pathLst>
                <a:path h="10934700" w="83439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8115300" y="0"/>
                  </a:lnTo>
                  <a:cubicBezTo>
                    <a:pt x="8241538" y="0"/>
                    <a:pt x="8343900" y="102362"/>
                    <a:pt x="8343900" y="228600"/>
                  </a:cubicBezTo>
                  <a:lnTo>
                    <a:pt x="8343900" y="10706100"/>
                  </a:lnTo>
                  <a:cubicBezTo>
                    <a:pt x="8343900" y="10832338"/>
                    <a:pt x="8241538" y="10934700"/>
                    <a:pt x="8115300" y="10934700"/>
                  </a:cubicBezTo>
                  <a:lnTo>
                    <a:pt x="228600" y="10934700"/>
                  </a:lnTo>
                  <a:cubicBezTo>
                    <a:pt x="102362" y="10934700"/>
                    <a:pt x="0" y="10832338"/>
                    <a:pt x="0" y="10706100"/>
                  </a:cubicBezTo>
                  <a:close/>
                </a:path>
              </a:pathLst>
            </a:custGeom>
            <a:solidFill>
              <a:srgbClr val="1F191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058525" y="657225"/>
            <a:ext cx="6257925" cy="8201025"/>
            <a:chOff x="0" y="0"/>
            <a:chExt cx="8343900" cy="10934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43900" cy="10934700"/>
            </a:xfrm>
            <a:custGeom>
              <a:avLst/>
              <a:gdLst/>
              <a:ahLst/>
              <a:cxnLst/>
              <a:rect r="r" b="b" t="t" l="l"/>
              <a:pathLst>
                <a:path h="10934700" w="8343900">
                  <a:moveTo>
                    <a:pt x="0" y="0"/>
                  </a:moveTo>
                  <a:lnTo>
                    <a:pt x="8343900" y="0"/>
                  </a:lnTo>
                  <a:lnTo>
                    <a:pt x="8343900" y="10934700"/>
                  </a:lnTo>
                  <a:lnTo>
                    <a:pt x="0" y="1093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94" r="0" b="-19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1550" y="828675"/>
            <a:ext cx="6715125" cy="342900"/>
            <a:chOff x="0" y="0"/>
            <a:chExt cx="895350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53500" cy="457200"/>
            </a:xfrm>
            <a:custGeom>
              <a:avLst/>
              <a:gdLst/>
              <a:ahLst/>
              <a:cxnLst/>
              <a:rect r="r" b="b" t="t" l="l"/>
              <a:pathLst>
                <a:path h="457200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581" r="0" b="-3315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9535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6">
                  <a:solidFill>
                    <a:srgbClr val="F26822"/>
                  </a:solidFill>
                  <a:latin typeface="Mandali"/>
                  <a:ea typeface="Mandali"/>
                  <a:cs typeface="Mandali"/>
                  <a:sym typeface="Mandali"/>
                </a:rPr>
                <a:t>AI DOCUMENT BUILDERS CHALLENGE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1550" y="1657350"/>
            <a:ext cx="7429500" cy="1085850"/>
            <a:chOff x="0" y="0"/>
            <a:chExt cx="9906000" cy="1447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060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318" r="0" b="-8331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9060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spc="24">
                  <a:solidFill>
                    <a:srgbClr val="1F1916"/>
                  </a:solidFill>
                  <a:latin typeface="Mandali"/>
                  <a:ea typeface="Mandali"/>
                  <a:cs typeface="Mandali"/>
                  <a:sym typeface="Mandali"/>
                </a:rPr>
                <a:t>한입지도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1550" y="3000375"/>
            <a:ext cx="8715375" cy="1685925"/>
            <a:chOff x="0" y="0"/>
            <a:chExt cx="11620500" cy="2247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205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11620500">
                  <a:moveTo>
                    <a:pt x="0" y="0"/>
                  </a:moveTo>
                  <a:lnTo>
                    <a:pt x="11620500" y="0"/>
                  </a:lnTo>
                  <a:lnTo>
                    <a:pt x="11620500" y="2247900"/>
                  </a:lnTo>
                  <a:lnTo>
                    <a:pt x="0" y="2247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27" r="0" b="-507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16205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spc="17">
                  <a:solidFill>
                    <a:srgbClr val="1F1916"/>
                  </a:solidFill>
                  <a:latin typeface="Mandali"/>
                  <a:ea typeface="Mandali"/>
                  <a:cs typeface="Mandali"/>
                  <a:sym typeface="Mandali"/>
                </a:rPr>
                <a:t>오늘 가진 예산으로,</a:t>
              </a:r>
            </a:p>
            <a:p>
              <a:pPr algn="l">
                <a:lnSpc>
                  <a:spcPts val="5400"/>
                </a:lnSpc>
              </a:pPr>
              <a:r>
                <a:rPr lang="en-US" sz="4500" spc="17">
                  <a:solidFill>
                    <a:srgbClr val="1F1916"/>
                  </a:solidFill>
                  <a:latin typeface="Mandali"/>
                  <a:ea typeface="Mandali"/>
                  <a:cs typeface="Mandali"/>
                  <a:sym typeface="Mandali"/>
                </a:rPr>
                <a:t>뭐 먹지?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1550" y="5057775"/>
            <a:ext cx="8715375" cy="1028700"/>
            <a:chOff x="0" y="0"/>
            <a:chExt cx="116205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205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1620500">
                  <a:moveTo>
                    <a:pt x="0" y="0"/>
                  </a:moveTo>
                  <a:lnTo>
                    <a:pt x="11620500" y="0"/>
                  </a:lnTo>
                  <a:lnTo>
                    <a:pt x="116205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081" r="0" b="-11508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62050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spc="9">
                  <a:solidFill>
                    <a:srgbClr val="714A35"/>
                  </a:solidFill>
                  <a:latin typeface="Mandali"/>
                  <a:ea typeface="Mandali"/>
                  <a:cs typeface="Mandali"/>
                  <a:sym typeface="Mandali"/>
                </a:rPr>
                <a:t>메뉴판 사진을 데이터로 바꾸고,</a:t>
              </a:r>
            </a:p>
            <a:p>
              <a:pPr algn="l">
                <a:lnSpc>
                  <a:spcPts val="2835"/>
                </a:lnSpc>
              </a:pPr>
              <a:r>
                <a:rPr lang="en-US" sz="2362" spc="9">
                  <a:solidFill>
                    <a:srgbClr val="714A35"/>
                  </a:solidFill>
                  <a:latin typeface="Mandali"/>
                  <a:ea typeface="Mandali"/>
                  <a:cs typeface="Mandali"/>
                  <a:sym typeface="Mandali"/>
                </a:rPr>
                <a:t>예산과 도보 시간으로 찾는 캠퍼스 맛집 지도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1550" y="6657975"/>
            <a:ext cx="2486025" cy="600075"/>
            <a:chOff x="0" y="0"/>
            <a:chExt cx="3314700" cy="800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14700" cy="800100"/>
            </a:xfrm>
            <a:custGeom>
              <a:avLst/>
              <a:gdLst/>
              <a:ahLst/>
              <a:cxnLst/>
              <a:rect r="r" b="b" t="t" l="l"/>
              <a:pathLst>
                <a:path h="800100" w="33147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086100" y="0"/>
                  </a:lnTo>
                  <a:cubicBezTo>
                    <a:pt x="3212338" y="0"/>
                    <a:pt x="3314700" y="102362"/>
                    <a:pt x="3314700" y="228600"/>
                  </a:cubicBezTo>
                  <a:lnTo>
                    <a:pt x="3314700" y="571500"/>
                  </a:lnTo>
                  <a:cubicBezTo>
                    <a:pt x="3314700" y="697738"/>
                    <a:pt x="3212338" y="800100"/>
                    <a:pt x="3086100" y="800100"/>
                  </a:cubicBezTo>
                  <a:lnTo>
                    <a:pt x="228600" y="800100"/>
                  </a:lnTo>
                  <a:cubicBezTo>
                    <a:pt x="102362" y="800100"/>
                    <a:pt x="0" y="697738"/>
                    <a:pt x="0" y="571500"/>
                  </a:cubicBezTo>
                  <a:close/>
                </a:path>
              </a:pathLst>
            </a:custGeom>
            <a:solidFill>
              <a:srgbClr val="1F191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1550" y="6800850"/>
            <a:ext cx="2486025" cy="314325"/>
            <a:chOff x="0" y="0"/>
            <a:chExt cx="3314700" cy="419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14700" cy="419100"/>
            </a:xfrm>
            <a:custGeom>
              <a:avLst/>
              <a:gdLst/>
              <a:ahLst/>
              <a:cxnLst/>
              <a:rect r="r" b="b" t="t" l="l"/>
              <a:pathLst>
                <a:path h="4191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108" r="0" b="-10410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3147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TEAM  SIXSENSE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550" y="7572375"/>
            <a:ext cx="7858125" cy="428625"/>
            <a:chOff x="0" y="0"/>
            <a:chExt cx="10477500" cy="571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77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4775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714A35"/>
                  </a:solidFill>
                  <a:latin typeface="Mandali"/>
                  <a:ea typeface="Mandali"/>
                  <a:cs typeface="Mandali"/>
                  <a:sym typeface="Mandali"/>
                </a:rPr>
                <a:t>전유성 · 이준범 · 김민서 · 정경화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1550" y="8658225"/>
            <a:ext cx="8858250" cy="28575"/>
            <a:chOff x="0" y="0"/>
            <a:chExt cx="11811000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11000" cy="38100"/>
            </a:xfrm>
            <a:custGeom>
              <a:avLst/>
              <a:gdLst/>
              <a:ahLst/>
              <a:cxnLst/>
              <a:rect r="r" b="b" t="t" l="l"/>
              <a:pathLst>
                <a:path h="381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DC9A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71550" y="8915400"/>
            <a:ext cx="8858250" cy="556115"/>
            <a:chOff x="0" y="0"/>
            <a:chExt cx="11811000" cy="7414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811000" cy="741487"/>
            </a:xfrm>
            <a:custGeom>
              <a:avLst/>
              <a:gdLst/>
              <a:ahLst/>
              <a:cxnLst/>
              <a:rect r="r" b="b" t="t" l="l"/>
              <a:pathLst>
                <a:path h="741487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741487"/>
                  </a:lnTo>
                  <a:lnTo>
                    <a:pt x="0" y="741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835" r="0" b="-248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1811000" cy="74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F26822"/>
                  </a:solidFill>
                  <a:latin typeface="Mandali"/>
                  <a:ea typeface="Mandali"/>
                  <a:cs typeface="Mandali"/>
                  <a:sym typeface="Mandali"/>
                </a:rPr>
                <a:t>예산과</a:t>
              </a:r>
              <a:r>
                <a:rPr lang="en-US" sz="2025" spc="7">
                  <a:solidFill>
                    <a:srgbClr val="F26822"/>
                  </a:solidFill>
                  <a:latin typeface="Mandali"/>
                  <a:ea typeface="Mandali"/>
                  <a:cs typeface="Mandali"/>
                  <a:sym typeface="Mandali"/>
                </a:rPr>
                <a:t> 거리로 찾는 명륜캠퍼스 주변 맛집 지도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1550" y="9629775"/>
            <a:ext cx="2571750" cy="257175"/>
            <a:chOff x="0" y="0"/>
            <a:chExt cx="3429000" cy="3429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29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34290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237" spc="4">
                  <a:solidFill>
                    <a:srgbClr val="8B776C"/>
                  </a:solidFill>
                  <a:latin typeface="Mandali"/>
                  <a:ea typeface="Mandali"/>
                  <a:cs typeface="Mandali"/>
                  <a:sym typeface="Mandali"/>
                </a:rPr>
                <a:t>SIXSENSE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344150" y="9629775"/>
            <a:ext cx="457200" cy="257175"/>
            <a:chOff x="0" y="0"/>
            <a:chExt cx="609600" cy="3429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0" cy="342900"/>
            </a:xfrm>
            <a:custGeom>
              <a:avLst/>
              <a:gdLst/>
              <a:ahLst/>
              <a:cxnLst/>
              <a:rect r="r" b="b" t="t" l="l"/>
              <a:pathLst>
                <a:path h="3429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609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 spc="4">
                  <a:solidFill>
                    <a:srgbClr val="8B776C"/>
                  </a:solidFill>
                  <a:latin typeface="Mandali"/>
                  <a:ea typeface="Mandali"/>
                  <a:cs typeface="Mandali"/>
                  <a:sym typeface="Mandali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0025"/>
            <a:chOff x="0" y="0"/>
            <a:chExt cx="24384000" cy="2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6700"/>
            </a:xfrm>
            <a:custGeom>
              <a:avLst/>
              <a:gdLst/>
              <a:ahLst/>
              <a:cxnLst/>
              <a:rect r="r" b="b" t="t" l="l"/>
              <a:pathLst>
                <a:path h="26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2925"/>
            <a:ext cx="2857500" cy="466604"/>
            <a:chOff x="0" y="0"/>
            <a:chExt cx="3810000" cy="622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622139"/>
            </a:xfrm>
            <a:custGeom>
              <a:avLst/>
              <a:gdLst/>
              <a:ahLst/>
              <a:cxnLst/>
              <a:rect r="r" b="b" t="t" l="l"/>
              <a:pathLst>
                <a:path h="622139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622139"/>
                  </a:lnTo>
                  <a:lnTo>
                    <a:pt x="0" y="6221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458" r="0" b="-621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810000" cy="622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01 · </a:t>
              </a: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문제 정의와 타깃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896468"/>
            <a:ext cx="16002000" cy="1055732"/>
            <a:chOff x="0" y="0"/>
            <a:chExt cx="21336000" cy="14076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1407642"/>
            </a:xfrm>
            <a:custGeom>
              <a:avLst/>
              <a:gdLst/>
              <a:ahLst/>
              <a:cxnLst/>
              <a:rect r="r" b="b" t="t" l="l"/>
              <a:pathLst>
                <a:path h="140764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407642"/>
                  </a:lnTo>
                  <a:lnTo>
                    <a:pt x="0" y="14076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093" r="0" b="-2345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336000" cy="1407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spc="14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“오늘 8천 원으로 뭐 먹지?”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8543" y="2346335"/>
            <a:ext cx="4300804" cy="3613271"/>
            <a:chOff x="0" y="0"/>
            <a:chExt cx="5715000" cy="4801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00" cy="4801391"/>
            </a:xfrm>
            <a:custGeom>
              <a:avLst/>
              <a:gdLst/>
              <a:ahLst/>
              <a:cxnLst/>
              <a:rect r="r" b="b" t="t" l="l"/>
              <a:pathLst>
                <a:path h="4801391" w="5715000">
                  <a:moveTo>
                    <a:pt x="0" y="154884"/>
                  </a:moveTo>
                  <a:cubicBezTo>
                    <a:pt x="0" y="69353"/>
                    <a:pt x="102362" y="0"/>
                    <a:pt x="228600" y="0"/>
                  </a:cubicBezTo>
                  <a:lnTo>
                    <a:pt x="5486400" y="0"/>
                  </a:lnTo>
                  <a:cubicBezTo>
                    <a:pt x="5612638" y="0"/>
                    <a:pt x="5715000" y="69353"/>
                    <a:pt x="5715000" y="154884"/>
                  </a:cubicBezTo>
                  <a:lnTo>
                    <a:pt x="5715000" y="4646508"/>
                  </a:lnTo>
                  <a:cubicBezTo>
                    <a:pt x="5715000" y="4732038"/>
                    <a:pt x="5612638" y="4801391"/>
                    <a:pt x="5486400" y="4801391"/>
                  </a:cubicBezTo>
                  <a:lnTo>
                    <a:pt x="228600" y="4801391"/>
                  </a:lnTo>
                  <a:cubicBezTo>
                    <a:pt x="102362" y="4801391"/>
                    <a:pt x="0" y="4732038"/>
                    <a:pt x="0" y="4646508"/>
                  </a:cubicBezTo>
                  <a:close/>
                </a:path>
              </a:pathLst>
            </a:custGeom>
            <a:solidFill>
              <a:srgbClr val="201A1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4380" y="2780819"/>
            <a:ext cx="1428750" cy="342900"/>
            <a:chOff x="0" y="0"/>
            <a:chExt cx="190500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050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E9C9A7"/>
                  </a:solidFill>
                  <a:latin typeface="Mandali"/>
                  <a:ea typeface="Mandali"/>
                  <a:cs typeface="Mandali"/>
                  <a:sym typeface="Mandali"/>
                </a:rPr>
                <a:t>타깃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4380" y="3438044"/>
            <a:ext cx="3286125" cy="1085850"/>
            <a:chOff x="0" y="0"/>
            <a:chExt cx="4381500" cy="1447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15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7" r="0" b="-89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3815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3037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성균관대</a:t>
              </a:r>
            </a:p>
            <a:p>
              <a:pPr algn="l">
                <a:lnSpc>
                  <a:spcPts val="3644"/>
                </a:lnSpc>
              </a:pPr>
              <a:r>
                <a:rPr lang="en-US" sz="3037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명륜캠퍼스 학생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55999" y="2436698"/>
            <a:ext cx="5426984" cy="1662858"/>
            <a:chOff x="0" y="0"/>
            <a:chExt cx="7235979" cy="22171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35978" cy="2217145"/>
            </a:xfrm>
            <a:custGeom>
              <a:avLst/>
              <a:gdLst/>
              <a:ahLst/>
              <a:cxnLst/>
              <a:rect r="r" b="b" t="t" l="l"/>
              <a:pathLst>
                <a:path h="2217145" w="7235978">
                  <a:moveTo>
                    <a:pt x="0" y="271432"/>
                  </a:moveTo>
                  <a:cubicBezTo>
                    <a:pt x="0" y="121532"/>
                    <a:pt x="91107" y="0"/>
                    <a:pt x="203480" y="0"/>
                  </a:cubicBezTo>
                  <a:lnTo>
                    <a:pt x="7032498" y="0"/>
                  </a:lnTo>
                  <a:cubicBezTo>
                    <a:pt x="7144871" y="0"/>
                    <a:pt x="7235978" y="121532"/>
                    <a:pt x="7235978" y="271432"/>
                  </a:cubicBezTo>
                  <a:lnTo>
                    <a:pt x="7235978" y="1945712"/>
                  </a:lnTo>
                  <a:cubicBezTo>
                    <a:pt x="7235978" y="2095612"/>
                    <a:pt x="7144871" y="2217145"/>
                    <a:pt x="7032498" y="2217145"/>
                  </a:cubicBezTo>
                  <a:lnTo>
                    <a:pt x="203480" y="2217145"/>
                  </a:lnTo>
                  <a:cubicBezTo>
                    <a:pt x="91107" y="2217144"/>
                    <a:pt x="0" y="2095612"/>
                    <a:pt x="0" y="1945712"/>
                  </a:cubicBezTo>
                  <a:close/>
                </a:path>
              </a:pathLst>
            </a:custGeom>
            <a:solidFill>
              <a:srgbClr val="FFF6E8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264798" y="2952269"/>
            <a:ext cx="1510993" cy="556115"/>
            <a:chOff x="0" y="0"/>
            <a:chExt cx="2014658" cy="7414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4658" cy="741487"/>
            </a:xfrm>
            <a:custGeom>
              <a:avLst/>
              <a:gdLst/>
              <a:ahLst/>
              <a:cxnLst/>
              <a:rect r="r" b="b" t="t" l="l"/>
              <a:pathLst>
                <a:path h="741487" w="2014658">
                  <a:moveTo>
                    <a:pt x="0" y="0"/>
                  </a:moveTo>
                  <a:lnTo>
                    <a:pt x="2014658" y="0"/>
                  </a:lnTo>
                  <a:lnTo>
                    <a:pt x="2014658" y="741487"/>
                  </a:lnTo>
                  <a:lnTo>
                    <a:pt x="0" y="741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03" r="-13468" b="39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14658" cy="74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spc="7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식당 정보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775791" y="2647525"/>
            <a:ext cx="3689958" cy="1380353"/>
            <a:chOff x="0" y="0"/>
            <a:chExt cx="4919944" cy="18404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19944" cy="1840471"/>
            </a:xfrm>
            <a:custGeom>
              <a:avLst/>
              <a:gdLst/>
              <a:ahLst/>
              <a:cxnLst/>
              <a:rect r="r" b="b" t="t" l="l"/>
              <a:pathLst>
                <a:path h="1840471" w="4919944">
                  <a:moveTo>
                    <a:pt x="0" y="0"/>
                  </a:moveTo>
                  <a:lnTo>
                    <a:pt x="4919944" y="0"/>
                  </a:lnTo>
                  <a:lnTo>
                    <a:pt x="4919944" y="1840471"/>
                  </a:lnTo>
                  <a:lnTo>
                    <a:pt x="0" y="18404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03" r="3200" b="195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919944" cy="1830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 spc="7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가게 위치는 </a:t>
              </a:r>
              <a:r>
                <a:rPr lang="en-US" sz="1912" spc="7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지도앱에서 쉽게 찾지만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 spc="5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메뉴와 가격이 빠진 곳이 많다</a:t>
              </a:r>
            </a:p>
            <a:p>
              <a:pPr algn="l">
                <a:lnSpc>
                  <a:spcPts val="229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165524" y="4312071"/>
            <a:ext cx="5426984" cy="1662858"/>
            <a:chOff x="0" y="0"/>
            <a:chExt cx="7235979" cy="221714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235979" cy="2217144"/>
              <a:chOff x="0" y="0"/>
              <a:chExt cx="7235979" cy="221714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235978" cy="2217145"/>
              </a:xfrm>
              <a:custGeom>
                <a:avLst/>
                <a:gdLst/>
                <a:ahLst/>
                <a:cxnLst/>
                <a:rect r="r" b="b" t="t" l="l"/>
                <a:pathLst>
                  <a:path h="2217145" w="7235978">
                    <a:moveTo>
                      <a:pt x="0" y="271432"/>
                    </a:moveTo>
                    <a:cubicBezTo>
                      <a:pt x="0" y="121532"/>
                      <a:pt x="91107" y="0"/>
                      <a:pt x="203480" y="0"/>
                    </a:cubicBezTo>
                    <a:lnTo>
                      <a:pt x="7032498" y="0"/>
                    </a:lnTo>
                    <a:cubicBezTo>
                      <a:pt x="7144871" y="0"/>
                      <a:pt x="7235978" y="121532"/>
                      <a:pt x="7235978" y="271432"/>
                    </a:cubicBezTo>
                    <a:lnTo>
                      <a:pt x="7235978" y="1945712"/>
                    </a:lnTo>
                    <a:cubicBezTo>
                      <a:pt x="7235978" y="2095612"/>
                      <a:pt x="7144871" y="2217145"/>
                      <a:pt x="7032498" y="2217145"/>
                    </a:cubicBezTo>
                    <a:lnTo>
                      <a:pt x="203480" y="2217145"/>
                    </a:lnTo>
                    <a:cubicBezTo>
                      <a:pt x="91107" y="2217144"/>
                      <a:pt x="0" y="2095612"/>
                      <a:pt x="0" y="1945712"/>
                    </a:cubicBezTo>
                    <a:close/>
                  </a:path>
                </a:pathLst>
              </a:custGeom>
              <a:solidFill>
                <a:srgbClr val="FFF6E8"/>
              </a:solidFill>
              <a:ln w="14288" cap="sq">
                <a:solidFill>
                  <a:srgbClr val="E9C9A7"/>
                </a:solidFill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54222" y="692512"/>
              <a:ext cx="2014658" cy="741487"/>
              <a:chOff x="0" y="0"/>
              <a:chExt cx="2014658" cy="74148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14658" cy="741487"/>
              </a:xfrm>
              <a:custGeom>
                <a:avLst/>
                <a:gdLst/>
                <a:ahLst/>
                <a:cxnLst/>
                <a:rect r="r" b="b" t="t" l="l"/>
                <a:pathLst>
                  <a:path h="741487" w="2014658">
                    <a:moveTo>
                      <a:pt x="0" y="0"/>
                    </a:moveTo>
                    <a:lnTo>
                      <a:pt x="2014658" y="0"/>
                    </a:lnTo>
                    <a:lnTo>
                      <a:pt x="2014658" y="741487"/>
                    </a:lnTo>
                    <a:lnTo>
                      <a:pt x="0" y="74148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4103" r="-13468" b="3959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2014658" cy="7414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30"/>
                  </a:lnSpc>
                </a:pPr>
                <a:r>
                  <a:rPr lang="en-US" sz="2025" spc="7">
                    <a:solidFill>
                      <a:srgbClr val="F26A21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학식 정보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347431" y="333520"/>
              <a:ext cx="4197203" cy="1459471"/>
              <a:chOff x="0" y="0"/>
              <a:chExt cx="4197203" cy="145947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197203" cy="1459471"/>
              </a:xfrm>
              <a:custGeom>
                <a:avLst/>
                <a:gdLst/>
                <a:ahLst/>
                <a:cxnLst/>
                <a:rect r="r" b="b" t="t" l="l"/>
                <a:pathLst>
                  <a:path h="1459471" w="4197203">
                    <a:moveTo>
                      <a:pt x="0" y="0"/>
                    </a:moveTo>
                    <a:lnTo>
                      <a:pt x="4197203" y="0"/>
                    </a:lnTo>
                    <a:lnTo>
                      <a:pt x="4197203" y="1459471"/>
                    </a:lnTo>
                    <a:lnTo>
                      <a:pt x="0" y="145947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5730" r="-13468" b="-1435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9525"/>
                <a:ext cx="4197203" cy="14499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95"/>
                  </a:lnSpc>
                </a:pPr>
                <a:r>
                  <a:rPr lang="en-US" sz="1912" spc="7">
                    <a:solidFill>
                      <a:srgbClr val="6B4632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학교 사이트나 에브리타임에서</a:t>
                </a:r>
              </a:p>
              <a:p>
                <a:pPr algn="l">
                  <a:lnSpc>
                    <a:spcPts val="2295"/>
                  </a:lnSpc>
                </a:pPr>
              </a:p>
              <a:p>
                <a:pPr algn="l">
                  <a:lnSpc>
                    <a:spcPts val="2295"/>
                  </a:lnSpc>
                </a:pPr>
                <a:r>
                  <a:rPr lang="en-US" sz="1912" spc="7">
                    <a:solidFill>
                      <a:srgbClr val="6B4632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따로 확인해야 한다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1935408" y="3566632"/>
            <a:ext cx="600075" cy="828675"/>
            <a:chOff x="0" y="0"/>
            <a:chExt cx="800100" cy="11049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0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00100">
                  <a:moveTo>
                    <a:pt x="0" y="0"/>
                  </a:moveTo>
                  <a:lnTo>
                    <a:pt x="400050" y="0"/>
                  </a:lnTo>
                  <a:lnTo>
                    <a:pt x="800100" y="552450"/>
                  </a:lnTo>
                  <a:lnTo>
                    <a:pt x="400050" y="1104900"/>
                  </a:lnTo>
                  <a:lnTo>
                    <a:pt x="0" y="1104900"/>
                  </a:lnTo>
                  <a:lnTo>
                    <a:pt x="400050" y="55245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890643" y="2010135"/>
            <a:ext cx="4518813" cy="4178843"/>
            <a:chOff x="0" y="0"/>
            <a:chExt cx="6057418" cy="56016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57417" cy="5601691"/>
            </a:xfrm>
            <a:custGeom>
              <a:avLst/>
              <a:gdLst/>
              <a:ahLst/>
              <a:cxnLst/>
              <a:rect r="r" b="b" t="t" l="l"/>
              <a:pathLst>
                <a:path h="5601691" w="6057417">
                  <a:moveTo>
                    <a:pt x="0" y="180700"/>
                  </a:moveTo>
                  <a:cubicBezTo>
                    <a:pt x="0" y="80913"/>
                    <a:pt x="117929" y="0"/>
                    <a:pt x="263366" y="0"/>
                  </a:cubicBezTo>
                  <a:lnTo>
                    <a:pt x="5794052" y="0"/>
                  </a:lnTo>
                  <a:cubicBezTo>
                    <a:pt x="5939488" y="0"/>
                    <a:pt x="6057417" y="80913"/>
                    <a:pt x="6057417" y="180700"/>
                  </a:cubicBezTo>
                  <a:lnTo>
                    <a:pt x="6057417" y="5420992"/>
                  </a:lnTo>
                  <a:cubicBezTo>
                    <a:pt x="6057417" y="5520778"/>
                    <a:pt x="5939488" y="5601691"/>
                    <a:pt x="5794052" y="5601691"/>
                  </a:cubicBezTo>
                  <a:lnTo>
                    <a:pt x="263366" y="5601691"/>
                  </a:lnTo>
                  <a:cubicBezTo>
                    <a:pt x="117929" y="5601691"/>
                    <a:pt x="0" y="5520778"/>
                    <a:pt x="0" y="5420992"/>
                  </a:cubicBez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393840" y="2593570"/>
            <a:ext cx="2509761" cy="530150"/>
            <a:chOff x="0" y="0"/>
            <a:chExt cx="3292075" cy="6954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92075" cy="695402"/>
            </a:xfrm>
            <a:custGeom>
              <a:avLst/>
              <a:gdLst/>
              <a:ahLst/>
              <a:cxnLst/>
              <a:rect r="r" b="b" t="t" l="l"/>
              <a:pathLst>
                <a:path h="695402" w="3292075">
                  <a:moveTo>
                    <a:pt x="0" y="0"/>
                  </a:moveTo>
                  <a:lnTo>
                    <a:pt x="3292075" y="0"/>
                  </a:lnTo>
                  <a:lnTo>
                    <a:pt x="3292075" y="695402"/>
                  </a:lnTo>
                  <a:lnTo>
                    <a:pt x="0" y="695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193" r="13200" b="-1293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3292075" cy="685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핵심 문제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322126" y="3208115"/>
            <a:ext cx="4015617" cy="2685125"/>
            <a:chOff x="0" y="0"/>
            <a:chExt cx="5267320" cy="35221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67320" cy="3522102"/>
            </a:xfrm>
            <a:custGeom>
              <a:avLst/>
              <a:gdLst/>
              <a:ahLst/>
              <a:cxnLst/>
              <a:rect r="r" b="b" t="t" l="l"/>
              <a:pathLst>
                <a:path h="3522102" w="5267320">
                  <a:moveTo>
                    <a:pt x="0" y="0"/>
                  </a:moveTo>
                  <a:lnTo>
                    <a:pt x="5267320" y="0"/>
                  </a:lnTo>
                  <a:lnTo>
                    <a:pt x="5267320" y="3522102"/>
                  </a:lnTo>
                  <a:lnTo>
                    <a:pt x="0" y="35221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88" t="0" r="8245" b="3942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267320" cy="3522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14"/>
                </a:lnSpc>
              </a:pPr>
              <a:r>
                <a:rPr lang="en-US" sz="3012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식당과 학식의</a:t>
              </a:r>
            </a:p>
            <a:p>
              <a:pPr algn="l">
                <a:lnSpc>
                  <a:spcPts val="3614"/>
                </a:lnSpc>
              </a:pPr>
              <a:r>
                <a:rPr lang="en-US" sz="3012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메뉴·가격 정보가</a:t>
              </a:r>
            </a:p>
            <a:p>
              <a:pPr algn="l">
                <a:lnSpc>
                  <a:spcPts val="3614"/>
                </a:lnSpc>
              </a:pPr>
              <a:r>
                <a:rPr lang="en-US" sz="3012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한곳에 모여 있지 않다</a:t>
              </a:r>
            </a:p>
            <a:p>
              <a:pPr algn="l">
                <a:lnSpc>
                  <a:spcPts val="3734"/>
                </a:lnSpc>
              </a:pPr>
            </a:p>
            <a:p>
              <a:pPr algn="l">
                <a:lnSpc>
                  <a:spcPts val="3734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78543" y="7149154"/>
            <a:ext cx="16459200" cy="1169761"/>
            <a:chOff x="0" y="0"/>
            <a:chExt cx="21945600" cy="155968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00" cy="1559682"/>
            </a:xfrm>
            <a:custGeom>
              <a:avLst/>
              <a:gdLst/>
              <a:ahLst/>
              <a:cxnLst/>
              <a:rect r="r" b="b" t="t" l="l"/>
              <a:pathLst>
                <a:path h="1559682" w="21945600">
                  <a:moveTo>
                    <a:pt x="0" y="334218"/>
                  </a:moveTo>
                  <a:cubicBezTo>
                    <a:pt x="0" y="149655"/>
                    <a:pt x="102362" y="0"/>
                    <a:pt x="228600" y="0"/>
                  </a:cubicBezTo>
                  <a:lnTo>
                    <a:pt x="21717000" y="0"/>
                  </a:lnTo>
                  <a:cubicBezTo>
                    <a:pt x="21843237" y="0"/>
                    <a:pt x="21945600" y="149655"/>
                    <a:pt x="21945600" y="334218"/>
                  </a:cubicBezTo>
                  <a:lnTo>
                    <a:pt x="21945600" y="1225464"/>
                  </a:lnTo>
                  <a:cubicBezTo>
                    <a:pt x="21945600" y="1410027"/>
                    <a:pt x="21843237" y="1559682"/>
                    <a:pt x="21717000" y="1559682"/>
                  </a:cubicBezTo>
                  <a:lnTo>
                    <a:pt x="228600" y="1559682"/>
                  </a:lnTo>
                  <a:cubicBezTo>
                    <a:pt x="102362" y="1559682"/>
                    <a:pt x="0" y="1410027"/>
                    <a:pt x="0" y="1225464"/>
                  </a:cubicBezTo>
                  <a:close/>
                </a:path>
              </a:pathLst>
            </a:custGeom>
            <a:solidFill>
              <a:srgbClr val="FBE5C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21443" y="6991819"/>
            <a:ext cx="15773400" cy="1116915"/>
            <a:chOff x="0" y="0"/>
            <a:chExt cx="21031200" cy="148922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031200" cy="1489221"/>
            </a:xfrm>
            <a:custGeom>
              <a:avLst/>
              <a:gdLst/>
              <a:ahLst/>
              <a:cxnLst/>
              <a:rect r="r" b="b" t="t" l="l"/>
              <a:pathLst>
                <a:path h="1489221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89221"/>
                  </a:lnTo>
                  <a:lnTo>
                    <a:pt x="0" y="14892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64" r="0" b="-1930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1031200" cy="1489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9"/>
                </a:lnSpc>
              </a:pPr>
            </a:p>
            <a:p>
              <a:pPr algn="ctr">
                <a:lnSpc>
                  <a:spcPts val="3269"/>
                </a:lnSpc>
              </a:pPr>
              <a:r>
                <a:rPr lang="en-US" sz="2724" spc="10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한입지도는 메뉴판과 학식 데이터를 직접 모아, 예산을 입력하면 실제로 먹을 수 있는 메뉴를 보여준다.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0025"/>
            <a:chOff x="0" y="0"/>
            <a:chExt cx="24384000" cy="2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6700"/>
            </a:xfrm>
            <a:custGeom>
              <a:avLst/>
              <a:gdLst/>
              <a:ahLst/>
              <a:cxnLst/>
              <a:rect r="r" b="b" t="t" l="l"/>
              <a:pathLst>
                <a:path h="26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600075" y="485775"/>
            <a:ext cx="4857750" cy="342900"/>
            <a:chOff x="0" y="0"/>
            <a:chExt cx="64770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7000" cy="457200"/>
            </a:xfrm>
            <a:custGeom>
              <a:avLst/>
              <a:gdLst/>
              <a:ahLst/>
              <a:cxnLst/>
              <a:rect r="r" b="b" t="t" l="l"/>
              <a:pathLst>
                <a:path h="4572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038" r="0" b="-226038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4770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02 · 해법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4166" y="829936"/>
            <a:ext cx="16716375" cy="1055732"/>
            <a:chOff x="0" y="0"/>
            <a:chExt cx="22288500" cy="14076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88500" cy="1407642"/>
            </a:xfrm>
            <a:custGeom>
              <a:avLst/>
              <a:gdLst/>
              <a:ahLst/>
              <a:cxnLst/>
              <a:rect r="r" b="b" t="t" l="l"/>
              <a:pathLst>
                <a:path h="1407642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407642"/>
                  </a:lnTo>
                  <a:lnTo>
                    <a:pt x="0" y="14076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338" r="0" b="-243711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288500" cy="1407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spc="14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해법 “</a:t>
              </a:r>
              <a:r>
                <a:rPr lang="en-US" sz="3825" spc="14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데이터를 직접 만들자”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678599"/>
            <a:ext cx="16573500" cy="556115"/>
            <a:chOff x="0" y="0"/>
            <a:chExt cx="22098000" cy="7414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98000" cy="741487"/>
            </a:xfrm>
            <a:custGeom>
              <a:avLst/>
              <a:gdLst/>
              <a:ahLst/>
              <a:cxnLst/>
              <a:rect r="r" b="b" t="t" l="l"/>
              <a:pathLst>
                <a:path h="741487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41487"/>
                  </a:lnTo>
                  <a:lnTo>
                    <a:pt x="0" y="741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160" r="0" b="-519235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098000" cy="74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메뉴판 사진을 Document Parse로 읽고 운영진이 검수한 것만 서비스에 올린다.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2520464"/>
            <a:ext cx="6000750" cy="428625"/>
            <a:chOff x="0" y="0"/>
            <a:chExt cx="8001000" cy="571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01000" cy="571500"/>
            </a:xfrm>
            <a:custGeom>
              <a:avLst/>
              <a:gdLst/>
              <a:ahLst/>
              <a:cxnLst/>
              <a:rect r="r" b="b" t="t" l="l"/>
              <a:pathLst>
                <a:path h="5715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spc="9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“그냥 ChatGPT 쓰면 되지 않나요?”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73046" y="3934731"/>
            <a:ext cx="3413522" cy="1095490"/>
            <a:chOff x="0" y="0"/>
            <a:chExt cx="4848188" cy="15559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48188" cy="1555913"/>
            </a:xfrm>
            <a:custGeom>
              <a:avLst/>
              <a:gdLst/>
              <a:ahLst/>
              <a:cxnLst/>
              <a:rect r="r" b="b" t="t" l="l"/>
              <a:pathLst>
                <a:path h="1555913" w="4848188">
                  <a:moveTo>
                    <a:pt x="0" y="424340"/>
                  </a:moveTo>
                  <a:cubicBezTo>
                    <a:pt x="0" y="190010"/>
                    <a:pt x="62026" y="0"/>
                    <a:pt x="138520" y="0"/>
                  </a:cubicBezTo>
                  <a:lnTo>
                    <a:pt x="4709669" y="0"/>
                  </a:lnTo>
                  <a:cubicBezTo>
                    <a:pt x="4786163" y="0"/>
                    <a:pt x="4848188" y="190010"/>
                    <a:pt x="4848188" y="424340"/>
                  </a:cubicBezTo>
                  <a:lnTo>
                    <a:pt x="4848188" y="1131573"/>
                  </a:lnTo>
                  <a:cubicBezTo>
                    <a:pt x="4848188" y="1365903"/>
                    <a:pt x="4786163" y="1555913"/>
                    <a:pt x="4709669" y="1555913"/>
                  </a:cubicBezTo>
                  <a:lnTo>
                    <a:pt x="138520" y="1555913"/>
                  </a:lnTo>
                  <a:cubicBezTo>
                    <a:pt x="62026" y="1555913"/>
                    <a:pt x="0" y="1365903"/>
                    <a:pt x="0" y="1131573"/>
                  </a:cubicBezTo>
                  <a:close/>
                </a:path>
              </a:pathLst>
            </a:custGeom>
            <a:solidFill>
              <a:srgbClr val="201A17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65182" y="4080549"/>
            <a:ext cx="5429250" cy="802710"/>
            <a:chOff x="0" y="0"/>
            <a:chExt cx="7239000" cy="1070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39000" cy="1070280"/>
            </a:xfrm>
            <a:custGeom>
              <a:avLst/>
              <a:gdLst/>
              <a:ahLst/>
              <a:cxnLst/>
              <a:rect r="r" b="b" t="t" l="l"/>
              <a:pathLst>
                <a:path h="1070280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1070280"/>
                  </a:lnTo>
                  <a:lnTo>
                    <a:pt x="0" y="1070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31" r="0" b="-5314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239000" cy="1070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4"/>
                </a:lnSpc>
              </a:pPr>
              <a:r>
                <a:rPr lang="en-US" sz="2937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범용 LLM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22403" y="3967231"/>
            <a:ext cx="3485935" cy="1096636"/>
            <a:chOff x="0" y="0"/>
            <a:chExt cx="9691427" cy="30488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1427" cy="3048814"/>
            </a:xfrm>
            <a:custGeom>
              <a:avLst/>
              <a:gdLst/>
              <a:ahLst/>
              <a:cxnLst/>
              <a:rect r="r" b="b" t="t" l="l"/>
              <a:pathLst>
                <a:path h="3048814" w="9691427">
                  <a:moveTo>
                    <a:pt x="0" y="831495"/>
                  </a:moveTo>
                  <a:cubicBezTo>
                    <a:pt x="0" y="372325"/>
                    <a:pt x="85933" y="0"/>
                    <a:pt x="191909" y="0"/>
                  </a:cubicBezTo>
                  <a:lnTo>
                    <a:pt x="9499518" y="0"/>
                  </a:lnTo>
                  <a:cubicBezTo>
                    <a:pt x="9605494" y="0"/>
                    <a:pt x="9691427" y="372325"/>
                    <a:pt x="9691427" y="831495"/>
                  </a:cubicBezTo>
                  <a:lnTo>
                    <a:pt x="9691427" y="2217319"/>
                  </a:lnTo>
                  <a:cubicBezTo>
                    <a:pt x="9691427" y="2676489"/>
                    <a:pt x="9605494" y="3048814"/>
                    <a:pt x="9499518" y="3048814"/>
                  </a:cubicBezTo>
                  <a:lnTo>
                    <a:pt x="191909" y="3048814"/>
                  </a:lnTo>
                  <a:cubicBezTo>
                    <a:pt x="85933" y="3048814"/>
                    <a:pt x="0" y="2676489"/>
                    <a:pt x="0" y="2217319"/>
                  </a:cubicBez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65149" y="3767581"/>
            <a:ext cx="4600442" cy="1418475"/>
            <a:chOff x="0" y="0"/>
            <a:chExt cx="8039086" cy="24787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39086" cy="2478727"/>
            </a:xfrm>
            <a:custGeom>
              <a:avLst/>
              <a:gdLst/>
              <a:ahLst/>
              <a:cxnLst/>
              <a:rect r="r" b="b" t="t" l="l"/>
              <a:pathLst>
                <a:path h="2478727" w="8039086">
                  <a:moveTo>
                    <a:pt x="0" y="0"/>
                  </a:moveTo>
                  <a:lnTo>
                    <a:pt x="8039086" y="0"/>
                  </a:lnTo>
                  <a:lnTo>
                    <a:pt x="8039086" y="2478727"/>
                  </a:lnTo>
                  <a:lnTo>
                    <a:pt x="0" y="24787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536" r="-34123" b="6018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039086" cy="2478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4"/>
                </a:lnSpc>
              </a:pPr>
              <a:r>
                <a:rPr lang="en-US" sz="2937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한입지도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94413" y="5482601"/>
            <a:ext cx="1685925" cy="657225"/>
            <a:chOff x="0" y="0"/>
            <a:chExt cx="2247900" cy="876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47900" cy="876300"/>
            </a:xfrm>
            <a:custGeom>
              <a:avLst/>
              <a:gdLst/>
              <a:ahLst/>
              <a:cxnLst/>
              <a:rect r="r" b="b" t="t" l="l"/>
              <a:pathLst>
                <a:path h="876300" w="2247900">
                  <a:moveTo>
                    <a:pt x="0" y="0"/>
                  </a:moveTo>
                  <a:lnTo>
                    <a:pt x="2247900" y="0"/>
                  </a:lnTo>
                  <a:lnTo>
                    <a:pt x="22479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" t="0" r="-16" b="0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2479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가격 출처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301862" y="5438058"/>
            <a:ext cx="6015038" cy="671615"/>
            <a:chOff x="0" y="0"/>
            <a:chExt cx="8020050" cy="8954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20050" cy="895487"/>
            </a:xfrm>
            <a:custGeom>
              <a:avLst/>
              <a:gdLst/>
              <a:ahLst/>
              <a:cxnLst/>
              <a:rect r="r" b="b" t="t" l="l"/>
              <a:pathLst>
                <a:path h="895487" w="8020050">
                  <a:moveTo>
                    <a:pt x="0" y="233589"/>
                  </a:moveTo>
                  <a:cubicBezTo>
                    <a:pt x="0" y="104537"/>
                    <a:pt x="104521" y="0"/>
                    <a:pt x="233553" y="0"/>
                  </a:cubicBezTo>
                  <a:lnTo>
                    <a:pt x="7786497" y="0"/>
                  </a:lnTo>
                  <a:cubicBezTo>
                    <a:pt x="7915528" y="0"/>
                    <a:pt x="8020050" y="104537"/>
                    <a:pt x="8020050" y="233589"/>
                  </a:cubicBezTo>
                  <a:lnTo>
                    <a:pt x="8020050" y="661898"/>
                  </a:lnTo>
                  <a:cubicBezTo>
                    <a:pt x="8020050" y="790950"/>
                    <a:pt x="7915528" y="895487"/>
                    <a:pt x="7786497" y="895487"/>
                  </a:cubicBezTo>
                  <a:lnTo>
                    <a:pt x="233553" y="895487"/>
                  </a:lnTo>
                  <a:cubicBezTo>
                    <a:pt x="104521" y="895487"/>
                    <a:pt x="0" y="790950"/>
                    <a:pt x="0" y="6618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2566181" y="5502454"/>
            <a:ext cx="5486400" cy="542925"/>
            <a:chOff x="0" y="0"/>
            <a:chExt cx="7315200" cy="7239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723900"/>
            </a:xfrm>
            <a:custGeom>
              <a:avLst/>
              <a:gdLst/>
              <a:ahLst/>
              <a:cxnLst/>
              <a:rect r="r" b="b" t="t" l="l"/>
              <a:pathLst>
                <a:path h="7239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901" r="0" b="-146901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73152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가격 데이터가 없거나, 오래된 경우가 많음.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57852" y="5445304"/>
            <a:ext cx="6015038" cy="671512"/>
            <a:chOff x="0" y="0"/>
            <a:chExt cx="8020050" cy="8953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20050" cy="895350"/>
            </a:xfrm>
            <a:custGeom>
              <a:avLst/>
              <a:gdLst/>
              <a:ahLst/>
              <a:cxnLst/>
              <a:rect r="r" b="b" t="t" l="l"/>
              <a:pathLst>
                <a:path h="895350" w="8020050">
                  <a:moveTo>
                    <a:pt x="0" y="233553"/>
                  </a:moveTo>
                  <a:cubicBezTo>
                    <a:pt x="0" y="104521"/>
                    <a:pt x="72493" y="0"/>
                    <a:pt x="161987" y="0"/>
                  </a:cubicBezTo>
                  <a:lnTo>
                    <a:pt x="7858063" y="0"/>
                  </a:lnTo>
                  <a:cubicBezTo>
                    <a:pt x="7947557" y="0"/>
                    <a:pt x="8020050" y="104521"/>
                    <a:pt x="8020050" y="233553"/>
                  </a:cubicBezTo>
                  <a:lnTo>
                    <a:pt x="8020050" y="661797"/>
                  </a:lnTo>
                  <a:cubicBezTo>
                    <a:pt x="8020050" y="790829"/>
                    <a:pt x="7947557" y="895350"/>
                    <a:pt x="7858063" y="895350"/>
                  </a:cubicBezTo>
                  <a:lnTo>
                    <a:pt x="161987" y="895350"/>
                  </a:lnTo>
                  <a:cubicBezTo>
                    <a:pt x="72493" y="895350"/>
                    <a:pt x="0" y="790829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28327" y="5438058"/>
            <a:ext cx="5874087" cy="671717"/>
            <a:chOff x="0" y="0"/>
            <a:chExt cx="7832116" cy="8956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32116" cy="895623"/>
            </a:xfrm>
            <a:custGeom>
              <a:avLst/>
              <a:gdLst/>
              <a:ahLst/>
              <a:cxnLst/>
              <a:rect r="r" b="b" t="t" l="l"/>
              <a:pathLst>
                <a:path h="895623" w="7832116">
                  <a:moveTo>
                    <a:pt x="0" y="0"/>
                  </a:moveTo>
                  <a:lnTo>
                    <a:pt x="7832116" y="0"/>
                  </a:lnTo>
                  <a:lnTo>
                    <a:pt x="7832116" y="895623"/>
                  </a:lnTo>
                  <a:lnTo>
                    <a:pt x="0" y="8956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22" r="-38640" b="-176648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832116" cy="895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Document Parse를 이용해 가격, 메뉴를 1차 수집,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운영진이 검수한 가격만 저장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194413" y="6331129"/>
            <a:ext cx="1685925" cy="657225"/>
            <a:chOff x="0" y="0"/>
            <a:chExt cx="2247900" cy="8763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47900" cy="876300"/>
            </a:xfrm>
            <a:custGeom>
              <a:avLst/>
              <a:gdLst/>
              <a:ahLst/>
              <a:cxnLst/>
              <a:rect r="r" b="b" t="t" l="l"/>
              <a:pathLst>
                <a:path h="876300" w="2247900">
                  <a:moveTo>
                    <a:pt x="0" y="0"/>
                  </a:moveTo>
                  <a:lnTo>
                    <a:pt x="2247900" y="0"/>
                  </a:lnTo>
                  <a:lnTo>
                    <a:pt x="22479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" t="0" r="-16" b="0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2479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없는 정보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301862" y="6266836"/>
            <a:ext cx="6015038" cy="671512"/>
            <a:chOff x="0" y="0"/>
            <a:chExt cx="8020050" cy="8953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20050" cy="895350"/>
            </a:xfrm>
            <a:custGeom>
              <a:avLst/>
              <a:gdLst/>
              <a:ahLst/>
              <a:cxnLst/>
              <a:rect r="r" b="b" t="t" l="l"/>
              <a:pathLst>
                <a:path h="895350" w="8020050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lnTo>
                    <a:pt x="7786497" y="0"/>
                  </a:lnTo>
                  <a:cubicBezTo>
                    <a:pt x="7915528" y="0"/>
                    <a:pt x="8020050" y="104521"/>
                    <a:pt x="8020050" y="233553"/>
                  </a:cubicBezTo>
                  <a:lnTo>
                    <a:pt x="8020050" y="661797"/>
                  </a:lnTo>
                  <a:cubicBezTo>
                    <a:pt x="8020050" y="790829"/>
                    <a:pt x="7915528" y="895350"/>
                    <a:pt x="7786497" y="895350"/>
                  </a:cubicBezTo>
                  <a:lnTo>
                    <a:pt x="233553" y="895350"/>
                  </a:lnTo>
                  <a:cubicBezTo>
                    <a:pt x="104521" y="895350"/>
                    <a:pt x="0" y="790829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2566181" y="6331129"/>
            <a:ext cx="5486400" cy="542925"/>
            <a:chOff x="0" y="0"/>
            <a:chExt cx="7315200" cy="7239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723900"/>
            </a:xfrm>
            <a:custGeom>
              <a:avLst/>
              <a:gdLst/>
              <a:ahLst/>
              <a:cxnLst/>
              <a:rect r="r" b="b" t="t" l="l"/>
              <a:pathLst>
                <a:path h="7239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901" r="0" b="-146901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3152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추정하거나 일반적인 안내로 답함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57852" y="6266836"/>
            <a:ext cx="6015038" cy="671512"/>
            <a:chOff x="0" y="0"/>
            <a:chExt cx="8020050" cy="8953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20050" cy="895350"/>
            </a:xfrm>
            <a:custGeom>
              <a:avLst/>
              <a:gdLst/>
              <a:ahLst/>
              <a:cxnLst/>
              <a:rect r="r" b="b" t="t" l="l"/>
              <a:pathLst>
                <a:path h="895350" w="8020050">
                  <a:moveTo>
                    <a:pt x="0" y="233553"/>
                  </a:moveTo>
                  <a:cubicBezTo>
                    <a:pt x="0" y="104521"/>
                    <a:pt x="72493" y="0"/>
                    <a:pt x="161987" y="0"/>
                  </a:cubicBezTo>
                  <a:lnTo>
                    <a:pt x="7858063" y="0"/>
                  </a:lnTo>
                  <a:cubicBezTo>
                    <a:pt x="7947557" y="0"/>
                    <a:pt x="8020050" y="104521"/>
                    <a:pt x="8020050" y="233553"/>
                  </a:cubicBezTo>
                  <a:lnTo>
                    <a:pt x="8020050" y="661797"/>
                  </a:lnTo>
                  <a:cubicBezTo>
                    <a:pt x="8020050" y="790829"/>
                    <a:pt x="7947557" y="895350"/>
                    <a:pt x="7858063" y="895350"/>
                  </a:cubicBezTo>
                  <a:lnTo>
                    <a:pt x="161987" y="895350"/>
                  </a:lnTo>
                  <a:cubicBezTo>
                    <a:pt x="72493" y="895350"/>
                    <a:pt x="0" y="790829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57852" y="6331129"/>
            <a:ext cx="6015038" cy="542925"/>
            <a:chOff x="0" y="0"/>
            <a:chExt cx="8020050" cy="7239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020050" cy="723900"/>
            </a:xfrm>
            <a:custGeom>
              <a:avLst/>
              <a:gdLst/>
              <a:ahLst/>
              <a:cxnLst/>
              <a:rect r="r" b="b" t="t" l="l"/>
              <a:pathLst>
                <a:path h="723900" w="8020050">
                  <a:moveTo>
                    <a:pt x="0" y="0"/>
                  </a:moveTo>
                  <a:lnTo>
                    <a:pt x="8020050" y="0"/>
                  </a:lnTo>
                  <a:lnTo>
                    <a:pt x="802005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-35391" b="-242275"/>
              </a:stretch>
            </a:blipFill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02005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확인되지 않은 값은 빈칸으로 둠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194413" y="7127657"/>
            <a:ext cx="1685925" cy="657225"/>
            <a:chOff x="0" y="0"/>
            <a:chExt cx="2247900" cy="8763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7900" cy="876300"/>
            </a:xfrm>
            <a:custGeom>
              <a:avLst/>
              <a:gdLst/>
              <a:ahLst/>
              <a:cxnLst/>
              <a:rect r="r" b="b" t="t" l="l"/>
              <a:pathLst>
                <a:path h="876300" w="2247900">
                  <a:moveTo>
                    <a:pt x="0" y="0"/>
                  </a:moveTo>
                  <a:lnTo>
                    <a:pt x="2247900" y="0"/>
                  </a:lnTo>
                  <a:lnTo>
                    <a:pt x="22479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" t="0" r="-16" b="0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2479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검증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301862" y="7095511"/>
            <a:ext cx="6015038" cy="671512"/>
            <a:chOff x="0" y="0"/>
            <a:chExt cx="8020050" cy="8953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20050" cy="895350"/>
            </a:xfrm>
            <a:custGeom>
              <a:avLst/>
              <a:gdLst/>
              <a:ahLst/>
              <a:cxnLst/>
              <a:rect r="r" b="b" t="t" l="l"/>
              <a:pathLst>
                <a:path h="895350" w="8020050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lnTo>
                    <a:pt x="7786497" y="0"/>
                  </a:lnTo>
                  <a:cubicBezTo>
                    <a:pt x="7915528" y="0"/>
                    <a:pt x="8020050" y="104521"/>
                    <a:pt x="8020050" y="233553"/>
                  </a:cubicBezTo>
                  <a:lnTo>
                    <a:pt x="8020050" y="661797"/>
                  </a:lnTo>
                  <a:cubicBezTo>
                    <a:pt x="8020050" y="790829"/>
                    <a:pt x="7915528" y="895350"/>
                    <a:pt x="7786497" y="895350"/>
                  </a:cubicBezTo>
                  <a:lnTo>
                    <a:pt x="233553" y="895350"/>
                  </a:lnTo>
                  <a:cubicBezTo>
                    <a:pt x="104521" y="895350"/>
                    <a:pt x="0" y="790829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2566181" y="7159804"/>
            <a:ext cx="5486400" cy="542925"/>
            <a:chOff x="0" y="0"/>
            <a:chExt cx="7315200" cy="7239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0" cy="723900"/>
            </a:xfrm>
            <a:custGeom>
              <a:avLst/>
              <a:gdLst/>
              <a:ahLst/>
              <a:cxnLst/>
              <a:rect r="r" b="b" t="t" l="l"/>
              <a:pathLst>
                <a:path h="7239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901" r="0" b="-146901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73152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실제 데이터 사용 여부 확인 불가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57852" y="7095511"/>
            <a:ext cx="6015038" cy="671512"/>
            <a:chOff x="0" y="0"/>
            <a:chExt cx="8020050" cy="8953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20050" cy="895350"/>
            </a:xfrm>
            <a:custGeom>
              <a:avLst/>
              <a:gdLst/>
              <a:ahLst/>
              <a:cxnLst/>
              <a:rect r="r" b="b" t="t" l="l"/>
              <a:pathLst>
                <a:path h="895350" w="8020050">
                  <a:moveTo>
                    <a:pt x="0" y="233553"/>
                  </a:moveTo>
                  <a:cubicBezTo>
                    <a:pt x="0" y="104521"/>
                    <a:pt x="72493" y="0"/>
                    <a:pt x="161987" y="0"/>
                  </a:cubicBezTo>
                  <a:lnTo>
                    <a:pt x="7858063" y="0"/>
                  </a:lnTo>
                  <a:cubicBezTo>
                    <a:pt x="7947557" y="0"/>
                    <a:pt x="8020050" y="104521"/>
                    <a:pt x="8020050" y="233553"/>
                  </a:cubicBezTo>
                  <a:lnTo>
                    <a:pt x="8020050" y="661797"/>
                  </a:lnTo>
                  <a:cubicBezTo>
                    <a:pt x="8020050" y="790829"/>
                    <a:pt x="7947557" y="895350"/>
                    <a:pt x="7858063" y="895350"/>
                  </a:cubicBezTo>
                  <a:lnTo>
                    <a:pt x="161987" y="895350"/>
                  </a:lnTo>
                  <a:cubicBezTo>
                    <a:pt x="72493" y="895350"/>
                    <a:pt x="0" y="790829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28327" y="7159804"/>
            <a:ext cx="5874087" cy="542925"/>
            <a:chOff x="0" y="0"/>
            <a:chExt cx="7832116" cy="7239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832116" cy="723900"/>
            </a:xfrm>
            <a:custGeom>
              <a:avLst/>
              <a:gdLst/>
              <a:ahLst/>
              <a:cxnLst/>
              <a:rect r="r" b="b" t="t" l="l"/>
              <a:pathLst>
                <a:path h="723900" w="7832116">
                  <a:moveTo>
                    <a:pt x="0" y="0"/>
                  </a:moveTo>
                  <a:lnTo>
                    <a:pt x="7832116" y="0"/>
                  </a:lnTo>
                  <a:lnTo>
                    <a:pt x="7832116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-38640" b="-242275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7832116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Solar-pro2가 쓴 추천</a:t>
              </a:r>
              <a:r>
                <a:rPr lang="en-US" sz="1575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 이유를 Solar-mini가 실제 데이터와 대조해 검증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94413" y="7909898"/>
            <a:ext cx="1685925" cy="657225"/>
            <a:chOff x="0" y="0"/>
            <a:chExt cx="2247900" cy="8763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47900" cy="876300"/>
            </a:xfrm>
            <a:custGeom>
              <a:avLst/>
              <a:gdLst/>
              <a:ahLst/>
              <a:cxnLst/>
              <a:rect r="r" b="b" t="t" l="l"/>
              <a:pathLst>
                <a:path h="876300" w="2247900">
                  <a:moveTo>
                    <a:pt x="0" y="0"/>
                  </a:moveTo>
                  <a:lnTo>
                    <a:pt x="2247900" y="0"/>
                  </a:lnTo>
                  <a:lnTo>
                    <a:pt x="22479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" t="0" r="-16" b="0"/>
              </a:stretch>
            </a:blipFill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2479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예산 검색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301862" y="7924186"/>
            <a:ext cx="6015038" cy="671512"/>
            <a:chOff x="0" y="0"/>
            <a:chExt cx="8020050" cy="8953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020050" cy="895350"/>
            </a:xfrm>
            <a:custGeom>
              <a:avLst/>
              <a:gdLst/>
              <a:ahLst/>
              <a:cxnLst/>
              <a:rect r="r" b="b" t="t" l="l"/>
              <a:pathLst>
                <a:path h="895350" w="8020050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lnTo>
                    <a:pt x="7786497" y="0"/>
                  </a:lnTo>
                  <a:cubicBezTo>
                    <a:pt x="7915528" y="0"/>
                    <a:pt x="8020050" y="104521"/>
                    <a:pt x="8020050" y="233553"/>
                  </a:cubicBezTo>
                  <a:lnTo>
                    <a:pt x="8020050" y="661797"/>
                  </a:lnTo>
                  <a:cubicBezTo>
                    <a:pt x="8020050" y="790829"/>
                    <a:pt x="7915528" y="895350"/>
                    <a:pt x="7786497" y="895350"/>
                  </a:cubicBezTo>
                  <a:lnTo>
                    <a:pt x="233553" y="895350"/>
                  </a:lnTo>
                  <a:cubicBezTo>
                    <a:pt x="104521" y="895350"/>
                    <a:pt x="0" y="790829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600075" y="8917167"/>
            <a:ext cx="17087850" cy="771525"/>
            <a:chOff x="0" y="0"/>
            <a:chExt cx="22783800" cy="10287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7838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783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2555200" y="0"/>
                  </a:lnTo>
                  <a:cubicBezTo>
                    <a:pt x="22681437" y="0"/>
                    <a:pt x="22783800" y="102362"/>
                    <a:pt x="22783800" y="228600"/>
                  </a:cubicBezTo>
                  <a:lnTo>
                    <a:pt x="22783800" y="800100"/>
                  </a:lnTo>
                  <a:cubicBezTo>
                    <a:pt x="22783800" y="926338"/>
                    <a:pt x="22681437" y="1028700"/>
                    <a:pt x="22555200" y="1028700"/>
                  </a:cubicBezTo>
                  <a:lnTo>
                    <a:pt x="228600" y="1028700"/>
                  </a:lnTo>
                  <a:cubicBezTo>
                    <a:pt x="102362" y="1028700"/>
                    <a:pt x="0" y="926338"/>
                    <a:pt x="0" y="800100"/>
                  </a:cubicBezTo>
                  <a:close/>
                </a:path>
              </a:pathLst>
            </a:custGeom>
            <a:solidFill>
              <a:srgbClr val="FBE5CF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942975" y="9117192"/>
            <a:ext cx="1428750" cy="371475"/>
            <a:chOff x="0" y="0"/>
            <a:chExt cx="1905000" cy="4953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0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42" r="0" b="-24942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905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핵심 차이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428875" y="9024872"/>
            <a:ext cx="14830425" cy="556115"/>
            <a:chOff x="0" y="0"/>
            <a:chExt cx="19773900" cy="74148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773900" cy="741487"/>
            </a:xfrm>
            <a:custGeom>
              <a:avLst/>
              <a:gdLst/>
              <a:ahLst/>
              <a:cxnLst/>
              <a:rect r="r" b="b" t="t" l="l"/>
              <a:pathLst>
                <a:path h="741487" w="19773900">
                  <a:moveTo>
                    <a:pt x="0" y="0"/>
                  </a:moveTo>
                  <a:lnTo>
                    <a:pt x="19773900" y="0"/>
                  </a:lnTo>
                  <a:lnTo>
                    <a:pt x="19773900" y="741487"/>
                  </a:lnTo>
                  <a:lnTo>
                    <a:pt x="0" y="741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3656" r="0" b="-455593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9773900" cy="74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spc="7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범용 LLM은 답을 만들고, 한입지도는 검수된 가격 데이터에서 답을 찾는다.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817619" y="3192117"/>
            <a:ext cx="4896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26822"/>
                </a:solidFill>
                <a:latin typeface="Mandali"/>
                <a:ea typeface="Mandali"/>
                <a:cs typeface="Mandali"/>
                <a:sym typeface="Mandali"/>
              </a:rPr>
              <a:t>ChatGPT의 답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414375" y="3148456"/>
            <a:ext cx="63272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236" spc="8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“정확한 가격은 매장에 문의하세요.”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316900" y="4225301"/>
            <a:ext cx="144095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4"/>
              </a:lnSpc>
              <a:spcBef>
                <a:spcPct val="0"/>
              </a:spcBef>
            </a:pPr>
            <a:r>
              <a:rPr lang="en-US" sz="3387" spc="13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vs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757852" y="7931329"/>
            <a:ext cx="6015038" cy="671512"/>
            <a:chOff x="0" y="0"/>
            <a:chExt cx="8020050" cy="8953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020050" cy="895350"/>
            </a:xfrm>
            <a:custGeom>
              <a:avLst/>
              <a:gdLst/>
              <a:ahLst/>
              <a:cxnLst/>
              <a:rect r="r" b="b" t="t" l="l"/>
              <a:pathLst>
                <a:path h="895350" w="8020050">
                  <a:moveTo>
                    <a:pt x="0" y="233553"/>
                  </a:moveTo>
                  <a:cubicBezTo>
                    <a:pt x="0" y="104521"/>
                    <a:pt x="72493" y="0"/>
                    <a:pt x="161987" y="0"/>
                  </a:cubicBezTo>
                  <a:lnTo>
                    <a:pt x="7858063" y="0"/>
                  </a:lnTo>
                  <a:cubicBezTo>
                    <a:pt x="7947557" y="0"/>
                    <a:pt x="8020050" y="104521"/>
                    <a:pt x="8020050" y="233553"/>
                  </a:cubicBezTo>
                  <a:lnTo>
                    <a:pt x="8020050" y="661797"/>
                  </a:lnTo>
                  <a:cubicBezTo>
                    <a:pt x="8020050" y="790829"/>
                    <a:pt x="7947557" y="895350"/>
                    <a:pt x="7858063" y="895350"/>
                  </a:cubicBezTo>
                  <a:lnTo>
                    <a:pt x="161987" y="895350"/>
                  </a:lnTo>
                  <a:cubicBezTo>
                    <a:pt x="72493" y="895350"/>
                    <a:pt x="0" y="790829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3" id="83"/>
          <p:cNvGrpSpPr/>
          <p:nvPr/>
        </p:nvGrpSpPr>
        <p:grpSpPr>
          <a:xfrm rot="0">
            <a:off x="9544604" y="7995623"/>
            <a:ext cx="6441534" cy="542925"/>
            <a:chOff x="0" y="0"/>
            <a:chExt cx="8588712" cy="7239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588712" cy="723900"/>
            </a:xfrm>
            <a:custGeom>
              <a:avLst/>
              <a:gdLst/>
              <a:ahLst/>
              <a:cxnLst/>
              <a:rect r="r" b="b" t="t" l="l"/>
              <a:pathLst>
                <a:path h="723900" w="8588712">
                  <a:moveTo>
                    <a:pt x="0" y="0"/>
                  </a:moveTo>
                  <a:lnTo>
                    <a:pt x="8588712" y="0"/>
                  </a:lnTo>
                  <a:lnTo>
                    <a:pt x="8588712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1F1916">
                <a:alpha val="0"/>
              </a:srgbClr>
            </a:solid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8588712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사용자 예산 입력 시 먹을 수 있는 메뉴를 </a:t>
              </a:r>
              <a:r>
                <a:rPr lang="en-US" sz="1575" spc="6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먼저 필터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2565182" y="7967048"/>
            <a:ext cx="5486400" cy="542925"/>
            <a:chOff x="0" y="0"/>
            <a:chExt cx="7315200" cy="7239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15200" cy="723900"/>
            </a:xfrm>
            <a:custGeom>
              <a:avLst/>
              <a:gdLst/>
              <a:ahLst/>
              <a:cxnLst/>
              <a:rect r="r" b="b" t="t" l="l"/>
              <a:pathLst>
                <a:path h="7239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901" r="0" b="-146901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73152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문장 추천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0025"/>
            <a:chOff x="0" y="0"/>
            <a:chExt cx="24384000" cy="2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6700"/>
            </a:xfrm>
            <a:custGeom>
              <a:avLst/>
              <a:gdLst/>
              <a:ahLst/>
              <a:cxnLst/>
              <a:rect r="r" b="b" t="t" l="l"/>
              <a:pathLst>
                <a:path h="26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00075" y="485775"/>
            <a:ext cx="4857750" cy="342900"/>
            <a:chOff x="0" y="0"/>
            <a:chExt cx="6477000" cy="45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7000" cy="457200"/>
            </a:xfrm>
            <a:custGeom>
              <a:avLst/>
              <a:gdLst/>
              <a:ahLst/>
              <a:cxnLst/>
              <a:rect r="r" b="b" t="t" l="l"/>
              <a:pathLst>
                <a:path h="4572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4770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03 · 한입지도 화면 구성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0075" y="971550"/>
            <a:ext cx="16716375" cy="1055732"/>
            <a:chOff x="0" y="0"/>
            <a:chExt cx="22288500" cy="14076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88500" cy="1407642"/>
            </a:xfrm>
            <a:custGeom>
              <a:avLst/>
              <a:gdLst/>
              <a:ahLst/>
              <a:cxnLst/>
              <a:rect r="r" b="b" t="t" l="l"/>
              <a:pathLst>
                <a:path h="1407642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407642"/>
                  </a:lnTo>
                  <a:lnTo>
                    <a:pt x="0" y="14076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338" r="0" b="-24371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288500" cy="1407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spc="14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한입지도 화면 구성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0075" y="1907381"/>
            <a:ext cx="16573500" cy="556115"/>
            <a:chOff x="0" y="0"/>
            <a:chExt cx="22098000" cy="7414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98000" cy="741487"/>
            </a:xfrm>
            <a:custGeom>
              <a:avLst/>
              <a:gdLst/>
              <a:ahLst/>
              <a:cxnLst/>
              <a:rect r="r" b="b" t="t" l="l"/>
              <a:pathLst>
                <a:path h="741487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41487"/>
                  </a:lnTo>
                  <a:lnTo>
                    <a:pt x="0" y="741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160" r="0" b="-5192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098000" cy="74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랜딩/ 메뉴 찾기/ 사진 제보/ 데이터 파이프라인/ 검수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92931" y="2650331"/>
            <a:ext cx="5300662" cy="3014662"/>
            <a:chOff x="0" y="0"/>
            <a:chExt cx="7067550" cy="4019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67550" cy="4019550"/>
            </a:xfrm>
            <a:custGeom>
              <a:avLst/>
              <a:gdLst/>
              <a:ahLst/>
              <a:cxnLst/>
              <a:rect r="r" b="b" t="t" l="l"/>
              <a:pathLst>
                <a:path h="4019550" w="7067550">
                  <a:moveTo>
                    <a:pt x="0" y="229616"/>
                  </a:moveTo>
                  <a:cubicBezTo>
                    <a:pt x="0" y="102870"/>
                    <a:pt x="102870" y="0"/>
                    <a:pt x="229616" y="0"/>
                  </a:cubicBezTo>
                  <a:lnTo>
                    <a:pt x="6837934" y="0"/>
                  </a:lnTo>
                  <a:cubicBezTo>
                    <a:pt x="6964807" y="0"/>
                    <a:pt x="7067550" y="102870"/>
                    <a:pt x="7067550" y="229616"/>
                  </a:cubicBezTo>
                  <a:lnTo>
                    <a:pt x="7067550" y="3789934"/>
                  </a:lnTo>
                  <a:cubicBezTo>
                    <a:pt x="7067550" y="3916807"/>
                    <a:pt x="6964680" y="4019550"/>
                    <a:pt x="6837934" y="4019550"/>
                  </a:cubicBezTo>
                  <a:lnTo>
                    <a:pt x="229616" y="4019550"/>
                  </a:lnTo>
                  <a:cubicBezTo>
                    <a:pt x="102870" y="4019550"/>
                    <a:pt x="0" y="3916680"/>
                    <a:pt x="0" y="378993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2950" y="2800350"/>
            <a:ext cx="5000625" cy="2114550"/>
            <a:chOff x="0" y="0"/>
            <a:chExt cx="6667500" cy="2819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675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2819400"/>
                  </a:lnTo>
                  <a:lnTo>
                    <a:pt x="0" y="281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8" r="0" b="-20971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00100" y="5014912"/>
            <a:ext cx="1800225" cy="314325"/>
            <a:chOff x="0" y="0"/>
            <a:chExt cx="2400300" cy="419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00300" cy="419100"/>
            </a:xfrm>
            <a:custGeom>
              <a:avLst/>
              <a:gdLst/>
              <a:ahLst/>
              <a:cxnLst/>
              <a:rect r="r" b="b" t="t" l="l"/>
              <a:pathLst>
                <a:path h="4191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596" r="0" b="-615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4003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랜딩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28900" y="5014912"/>
            <a:ext cx="3057525" cy="285750"/>
            <a:chOff x="0" y="0"/>
            <a:chExt cx="4076700" cy="38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76700" cy="381000"/>
            </a:xfrm>
            <a:custGeom>
              <a:avLst/>
              <a:gdLst/>
              <a:ahLst/>
              <a:cxnLst/>
              <a:rect r="r" b="b" t="t" l="l"/>
              <a:pathLst>
                <a:path h="3810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0767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/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93631" y="2650331"/>
            <a:ext cx="5300662" cy="3014662"/>
            <a:chOff x="0" y="0"/>
            <a:chExt cx="7067550" cy="4019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7550" cy="4019550"/>
            </a:xfrm>
            <a:custGeom>
              <a:avLst/>
              <a:gdLst/>
              <a:ahLst/>
              <a:cxnLst/>
              <a:rect r="r" b="b" t="t" l="l"/>
              <a:pathLst>
                <a:path h="4019550" w="7067550">
                  <a:moveTo>
                    <a:pt x="0" y="229616"/>
                  </a:moveTo>
                  <a:cubicBezTo>
                    <a:pt x="0" y="102870"/>
                    <a:pt x="102870" y="0"/>
                    <a:pt x="229616" y="0"/>
                  </a:cubicBezTo>
                  <a:lnTo>
                    <a:pt x="6837934" y="0"/>
                  </a:lnTo>
                  <a:cubicBezTo>
                    <a:pt x="6964807" y="0"/>
                    <a:pt x="7067550" y="102870"/>
                    <a:pt x="7067550" y="229616"/>
                  </a:cubicBezTo>
                  <a:lnTo>
                    <a:pt x="7067550" y="3789934"/>
                  </a:lnTo>
                  <a:cubicBezTo>
                    <a:pt x="7067550" y="3916807"/>
                    <a:pt x="6964680" y="4019550"/>
                    <a:pt x="6837934" y="4019550"/>
                  </a:cubicBezTo>
                  <a:lnTo>
                    <a:pt x="229616" y="4019550"/>
                  </a:lnTo>
                  <a:cubicBezTo>
                    <a:pt x="102870" y="4019550"/>
                    <a:pt x="0" y="3916680"/>
                    <a:pt x="0" y="378993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343650" y="2800350"/>
            <a:ext cx="5000625" cy="2114550"/>
            <a:chOff x="0" y="0"/>
            <a:chExt cx="6667500" cy="2819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675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2819400"/>
                  </a:lnTo>
                  <a:lnTo>
                    <a:pt x="0" y="281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4657" r="0" b="-16646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400800" y="5014912"/>
            <a:ext cx="1800225" cy="314325"/>
            <a:chOff x="0" y="0"/>
            <a:chExt cx="2400300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00300" cy="419100"/>
            </a:xfrm>
            <a:custGeom>
              <a:avLst/>
              <a:gdLst/>
              <a:ahLst/>
              <a:cxnLst/>
              <a:rect r="r" b="b" t="t" l="l"/>
              <a:pathLst>
                <a:path h="4191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596" r="0" b="-6159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4003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메뉴 찾기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0" y="5014912"/>
            <a:ext cx="3057525" cy="285750"/>
            <a:chOff x="0" y="0"/>
            <a:chExt cx="4076700" cy="38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76700" cy="381000"/>
            </a:xfrm>
            <a:custGeom>
              <a:avLst/>
              <a:gdLst/>
              <a:ahLst/>
              <a:cxnLst/>
              <a:rect r="r" b="b" t="t" l="l"/>
              <a:pathLst>
                <a:path h="3810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0767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/app.html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00800" y="5329238"/>
            <a:ext cx="4886325" cy="257175"/>
            <a:chOff x="0" y="0"/>
            <a:chExt cx="6515100" cy="342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15100" cy="342900"/>
            </a:xfrm>
            <a:custGeom>
              <a:avLst/>
              <a:gdLst/>
              <a:ahLst/>
              <a:cxnLst/>
              <a:rect r="r" b="b" t="t" l="l"/>
              <a:pathLst>
                <a:path h="342900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515100" cy="34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지도·대화·예산·도보 필터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794331" y="2650331"/>
            <a:ext cx="5300662" cy="3014662"/>
            <a:chOff x="0" y="0"/>
            <a:chExt cx="7067550" cy="40195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67550" cy="4019550"/>
            </a:xfrm>
            <a:custGeom>
              <a:avLst/>
              <a:gdLst/>
              <a:ahLst/>
              <a:cxnLst/>
              <a:rect r="r" b="b" t="t" l="l"/>
              <a:pathLst>
                <a:path h="4019550" w="7067550">
                  <a:moveTo>
                    <a:pt x="0" y="229616"/>
                  </a:moveTo>
                  <a:cubicBezTo>
                    <a:pt x="0" y="102870"/>
                    <a:pt x="102870" y="0"/>
                    <a:pt x="229616" y="0"/>
                  </a:cubicBezTo>
                  <a:lnTo>
                    <a:pt x="6837934" y="0"/>
                  </a:lnTo>
                  <a:cubicBezTo>
                    <a:pt x="6964807" y="0"/>
                    <a:pt x="7067550" y="102870"/>
                    <a:pt x="7067550" y="229616"/>
                  </a:cubicBezTo>
                  <a:lnTo>
                    <a:pt x="7067550" y="3789934"/>
                  </a:lnTo>
                  <a:cubicBezTo>
                    <a:pt x="7067550" y="3916807"/>
                    <a:pt x="6964680" y="4019550"/>
                    <a:pt x="6837934" y="4019550"/>
                  </a:cubicBezTo>
                  <a:lnTo>
                    <a:pt x="229616" y="4019550"/>
                  </a:lnTo>
                  <a:cubicBezTo>
                    <a:pt x="102870" y="4019550"/>
                    <a:pt x="0" y="3916680"/>
                    <a:pt x="0" y="378993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944350" y="2800350"/>
            <a:ext cx="5000625" cy="2114550"/>
            <a:chOff x="0" y="0"/>
            <a:chExt cx="6667500" cy="2819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675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2819400"/>
                  </a:lnTo>
                  <a:lnTo>
                    <a:pt x="0" y="281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9435" r="0" b="-14168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01500" y="5014912"/>
            <a:ext cx="1800225" cy="314325"/>
            <a:chOff x="0" y="0"/>
            <a:chExt cx="2400300" cy="419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00300" cy="419100"/>
            </a:xfrm>
            <a:custGeom>
              <a:avLst/>
              <a:gdLst/>
              <a:ahLst/>
              <a:cxnLst/>
              <a:rect r="r" b="b" t="t" l="l"/>
              <a:pathLst>
                <a:path h="4191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596" r="0" b="-6159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4003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사진 제보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830300" y="5014912"/>
            <a:ext cx="3057525" cy="285750"/>
            <a:chOff x="0" y="0"/>
            <a:chExt cx="4076700" cy="381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76700" cy="381000"/>
            </a:xfrm>
            <a:custGeom>
              <a:avLst/>
              <a:gdLst/>
              <a:ahLst/>
              <a:cxnLst/>
              <a:rect r="r" b="b" t="t" l="l"/>
              <a:pathLst>
                <a:path h="3810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89" r="0" b="-15848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0767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/contribute.html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001500" y="5329238"/>
            <a:ext cx="4886325" cy="257175"/>
            <a:chOff x="0" y="0"/>
            <a:chExt cx="6515100" cy="3429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15100" cy="342900"/>
            </a:xfrm>
            <a:custGeom>
              <a:avLst/>
              <a:gdLst/>
              <a:ahLst/>
              <a:cxnLst/>
              <a:rect r="r" b="b" t="t" l="l"/>
              <a:pathLst>
                <a:path h="342900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515100" cy="34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메뉴판 업로드와 파싱 결과 확인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92931" y="6250781"/>
            <a:ext cx="8101012" cy="2643188"/>
            <a:chOff x="0" y="0"/>
            <a:chExt cx="10801350" cy="35242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013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080135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10571480" y="0"/>
                  </a:lnTo>
                  <a:cubicBezTo>
                    <a:pt x="10698480" y="0"/>
                    <a:pt x="10801350" y="102870"/>
                    <a:pt x="10801350" y="229870"/>
                  </a:cubicBezTo>
                  <a:lnTo>
                    <a:pt x="10801350" y="3294380"/>
                  </a:lnTo>
                  <a:cubicBezTo>
                    <a:pt x="10801350" y="3421380"/>
                    <a:pt x="10698480" y="3524250"/>
                    <a:pt x="10571480" y="3524250"/>
                  </a:cubicBezTo>
                  <a:lnTo>
                    <a:pt x="229870" y="3524250"/>
                  </a:lnTo>
                  <a:cubicBezTo>
                    <a:pt x="102870" y="3524250"/>
                    <a:pt x="0" y="3421380"/>
                    <a:pt x="0" y="329438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42950" y="6400800"/>
            <a:ext cx="7800975" cy="1743075"/>
            <a:chOff x="0" y="0"/>
            <a:chExt cx="10401300" cy="23241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0130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7072" r="0" b="-221717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00100" y="8243888"/>
            <a:ext cx="1800225" cy="314325"/>
            <a:chOff x="0" y="0"/>
            <a:chExt cx="2400300" cy="419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00300" cy="419100"/>
            </a:xfrm>
            <a:custGeom>
              <a:avLst/>
              <a:gdLst/>
              <a:ahLst/>
              <a:cxnLst/>
              <a:rect r="r" b="b" t="t" l="l"/>
              <a:pathLst>
                <a:path h="4191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596" r="0" b="-6159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4003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데이터 파이프라인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628900" y="8243888"/>
            <a:ext cx="5857875" cy="285750"/>
            <a:chOff x="0" y="0"/>
            <a:chExt cx="7810500" cy="381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810500" cy="381000"/>
            </a:xfrm>
            <a:custGeom>
              <a:avLst/>
              <a:gdLst/>
              <a:ahLst/>
              <a:cxnLst/>
              <a:rect r="r" b="b" t="t" l="l"/>
              <a:pathLst>
                <a:path h="381000" w="7810500">
                  <a:moveTo>
                    <a:pt x="0" y="0"/>
                  </a:moveTo>
                  <a:lnTo>
                    <a:pt x="7810500" y="0"/>
                  </a:lnTo>
                  <a:lnTo>
                    <a:pt x="7810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78105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/about.html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00100" y="8558212"/>
            <a:ext cx="7686675" cy="257175"/>
            <a:chOff x="0" y="0"/>
            <a:chExt cx="10248900" cy="3429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8900" cy="342900"/>
            </a:xfrm>
            <a:custGeom>
              <a:avLst/>
              <a:gdLst/>
              <a:ahLst/>
              <a:cxnLst/>
              <a:rect r="r" b="b" t="t" l="l"/>
              <a:pathLst>
                <a:path h="342900" w="10248900">
                  <a:moveTo>
                    <a:pt x="0" y="0"/>
                  </a:moveTo>
                  <a:lnTo>
                    <a:pt x="10248900" y="0"/>
                  </a:lnTo>
                  <a:lnTo>
                    <a:pt x="1024890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386" r="0" b="-5323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0248900" cy="34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전체 흐름과 실제 API 실행 증거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993981" y="6250781"/>
            <a:ext cx="8101012" cy="2643188"/>
            <a:chOff x="0" y="0"/>
            <a:chExt cx="10801350" cy="35242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8013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080135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10571480" y="0"/>
                  </a:lnTo>
                  <a:cubicBezTo>
                    <a:pt x="10698480" y="0"/>
                    <a:pt x="10801350" y="102870"/>
                    <a:pt x="10801350" y="229870"/>
                  </a:cubicBezTo>
                  <a:lnTo>
                    <a:pt x="10801350" y="3294380"/>
                  </a:lnTo>
                  <a:cubicBezTo>
                    <a:pt x="10801350" y="3421380"/>
                    <a:pt x="10698480" y="3524250"/>
                    <a:pt x="10571480" y="3524250"/>
                  </a:cubicBezTo>
                  <a:lnTo>
                    <a:pt x="229870" y="3524250"/>
                  </a:lnTo>
                  <a:cubicBezTo>
                    <a:pt x="102870" y="3524250"/>
                    <a:pt x="0" y="3421380"/>
                    <a:pt x="0" y="329438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144000" y="6400800"/>
            <a:ext cx="7800975" cy="1743075"/>
            <a:chOff x="0" y="0"/>
            <a:chExt cx="10401300" cy="23241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0130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97646" r="0" b="-191143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201150" y="8243888"/>
            <a:ext cx="1800225" cy="314325"/>
            <a:chOff x="0" y="0"/>
            <a:chExt cx="2400300" cy="419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00300" cy="419100"/>
            </a:xfrm>
            <a:custGeom>
              <a:avLst/>
              <a:gdLst/>
              <a:ahLst/>
              <a:cxnLst/>
              <a:rect r="r" b="b" t="t" l="l"/>
              <a:pathLst>
                <a:path h="4191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596" r="0" b="-6159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4003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검수·통과 데이터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029950" y="8243888"/>
            <a:ext cx="5857875" cy="285750"/>
            <a:chOff x="0" y="0"/>
            <a:chExt cx="7810500" cy="381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810500" cy="381000"/>
            </a:xfrm>
            <a:custGeom>
              <a:avLst/>
              <a:gdLst/>
              <a:ahLst/>
              <a:cxnLst/>
              <a:rect r="r" b="b" t="t" l="l"/>
              <a:pathLst>
                <a:path h="381000" w="7810500">
                  <a:moveTo>
                    <a:pt x="0" y="0"/>
                  </a:moveTo>
                  <a:lnTo>
                    <a:pt x="7810500" y="0"/>
                  </a:lnTo>
                  <a:lnTo>
                    <a:pt x="7810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78105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/about.html · /review.html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201150" y="8558212"/>
            <a:ext cx="7686675" cy="257175"/>
            <a:chOff x="0" y="0"/>
            <a:chExt cx="10248900" cy="3429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48900" cy="342900"/>
            </a:xfrm>
            <a:custGeom>
              <a:avLst/>
              <a:gdLst/>
              <a:ahLst/>
              <a:cxnLst/>
              <a:rect r="r" b="b" t="t" l="l"/>
              <a:pathLst>
                <a:path h="342900" w="10248900">
                  <a:moveTo>
                    <a:pt x="0" y="0"/>
                  </a:moveTo>
                  <a:lnTo>
                    <a:pt x="10248900" y="0"/>
                  </a:lnTo>
                  <a:lnTo>
                    <a:pt x="1024890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386" r="0" b="-53238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0248900" cy="34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사람 검수 결과와 화면에 나가는 데이터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00075" y="9515475"/>
            <a:ext cx="7429500" cy="285750"/>
            <a:chOff x="0" y="0"/>
            <a:chExt cx="9906000" cy="381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906000" cy="381000"/>
            </a:xfrm>
            <a:custGeom>
              <a:avLst/>
              <a:gdLst/>
              <a:ahLst/>
              <a:cxnLst/>
              <a:rect r="r" b="b" t="t" l="l"/>
              <a:pathLst>
                <a:path h="381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99060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PDF 화면 캡처 기준 · 실제 서비스 페이지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00100" y="5231076"/>
            <a:ext cx="2657475" cy="400581"/>
            <a:chOff x="0" y="0"/>
            <a:chExt cx="3543300" cy="53410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543300" cy="534107"/>
            </a:xfrm>
            <a:custGeom>
              <a:avLst/>
              <a:gdLst/>
              <a:ahLst/>
              <a:cxnLst/>
              <a:rect r="r" b="b" t="t" l="l"/>
              <a:pathLst>
                <a:path h="534107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534107"/>
                  </a:lnTo>
                  <a:lnTo>
                    <a:pt x="0" y="5341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331" r="0" b="-7919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3543300" cy="534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 spc="5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서비스 소개 · 예산 칩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4951512" y="1370828"/>
            <a:ext cx="79206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  <a:spcBef>
                <a:spcPct val="0"/>
              </a:spcBef>
            </a:pPr>
            <a:r>
              <a:rPr lang="en-US" sz="1687" spc="6" u="sng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  <a:hlinkClick r:id="rId8" tooltip="https://sixsense.askewly.com"/>
              </a:rPr>
              <a:t>한입지도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0025"/>
            <a:chOff x="0" y="0"/>
            <a:chExt cx="24384000" cy="2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6700"/>
            </a:xfrm>
            <a:custGeom>
              <a:avLst/>
              <a:gdLst/>
              <a:ahLst/>
              <a:cxnLst/>
              <a:rect r="r" b="b" t="t" l="l"/>
              <a:pathLst>
                <a:path h="26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685800" y="485775"/>
            <a:ext cx="4714875" cy="466604"/>
            <a:chOff x="0" y="0"/>
            <a:chExt cx="6286500" cy="622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86500" cy="622139"/>
            </a:xfrm>
            <a:custGeom>
              <a:avLst/>
              <a:gdLst/>
              <a:ahLst/>
              <a:cxnLst/>
              <a:rect r="r" b="b" t="t" l="l"/>
              <a:pathLst>
                <a:path h="622139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622139"/>
                  </a:lnTo>
                  <a:lnTo>
                    <a:pt x="0" y="6221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083" r="0" b="-13669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286500" cy="622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04 · 파이프라인과 단계별 처리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039768"/>
            <a:ext cx="16573500" cy="1055732"/>
            <a:chOff x="0" y="0"/>
            <a:chExt cx="22098000" cy="14076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407642"/>
            </a:xfrm>
            <a:custGeom>
              <a:avLst/>
              <a:gdLst/>
              <a:ahLst/>
              <a:cxnLst/>
              <a:rect r="r" b="b" t="t" l="l"/>
              <a:pathLst>
                <a:path h="1407642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407642"/>
                  </a:lnTo>
                  <a:lnTo>
                    <a:pt x="0" y="14076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347" r="0" b="-242427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098000" cy="1407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spc="14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데이터 파이프라인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75372" y="3315559"/>
            <a:ext cx="742950" cy="69705"/>
            <a:chOff x="0" y="0"/>
            <a:chExt cx="990600" cy="929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0600" cy="92940"/>
            </a:xfrm>
            <a:custGeom>
              <a:avLst/>
              <a:gdLst/>
              <a:ahLst/>
              <a:cxnLst/>
              <a:rect r="r" b="b" t="t" l="l"/>
              <a:pathLst>
                <a:path h="92940" w="990600">
                  <a:moveTo>
                    <a:pt x="0" y="0"/>
                  </a:moveTo>
                  <a:lnTo>
                    <a:pt x="990600" y="929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66686" r="0" b="-148674"/>
              </a:stretch>
            </a:blipFill>
            <a:ln w="57150" cap="sq">
              <a:solidFill>
                <a:srgbClr val="F26A21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25428" y="2993172"/>
            <a:ext cx="342900" cy="627347"/>
            <a:chOff x="0" y="0"/>
            <a:chExt cx="457200" cy="8364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" cy="836463"/>
            </a:xfrm>
            <a:custGeom>
              <a:avLst/>
              <a:gdLst/>
              <a:ahLst/>
              <a:cxnLst/>
              <a:rect r="r" b="b" t="t" l="l"/>
              <a:pathLst>
                <a:path h="836463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418231"/>
                  </a:lnTo>
                  <a:lnTo>
                    <a:pt x="228600" y="836463"/>
                  </a:lnTo>
                  <a:lnTo>
                    <a:pt x="0" y="836463"/>
                  </a:lnTo>
                  <a:lnTo>
                    <a:pt x="228600" y="418231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33047" y="3315559"/>
            <a:ext cx="1485900" cy="69705"/>
            <a:chOff x="0" y="0"/>
            <a:chExt cx="1981200" cy="929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1200" cy="92940"/>
            </a:xfrm>
            <a:custGeom>
              <a:avLst/>
              <a:gdLst/>
              <a:ahLst/>
              <a:cxnLst/>
              <a:rect r="r" b="b" t="t" l="l"/>
              <a:pathLst>
                <a:path h="92940" w="1981200">
                  <a:moveTo>
                    <a:pt x="0" y="0"/>
                  </a:moveTo>
                  <a:lnTo>
                    <a:pt x="1981200" y="929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374366" r="0" b="-356354"/>
              </a:stretch>
            </a:blipFill>
            <a:ln w="57150" cap="sq">
              <a:solidFill>
                <a:srgbClr val="F26A21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75372" y="4674811"/>
            <a:ext cx="742950" cy="69705"/>
            <a:chOff x="0" y="0"/>
            <a:chExt cx="990600" cy="92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0600" cy="92940"/>
            </a:xfrm>
            <a:custGeom>
              <a:avLst/>
              <a:gdLst/>
              <a:ahLst/>
              <a:cxnLst/>
              <a:rect r="r" b="b" t="t" l="l"/>
              <a:pathLst>
                <a:path h="92940" w="990600">
                  <a:moveTo>
                    <a:pt x="0" y="0"/>
                  </a:moveTo>
                  <a:lnTo>
                    <a:pt x="990600" y="929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66686" r="0" b="-148674"/>
              </a:stretch>
            </a:blipFill>
            <a:ln w="57150" cap="sq">
              <a:solidFill>
                <a:srgbClr val="D99A4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36144" y="4469121"/>
            <a:ext cx="342900" cy="627347"/>
            <a:chOff x="0" y="0"/>
            <a:chExt cx="457200" cy="8364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" cy="836463"/>
            </a:xfrm>
            <a:custGeom>
              <a:avLst/>
              <a:gdLst/>
              <a:ahLst/>
              <a:cxnLst/>
              <a:rect r="r" b="b" t="t" l="l"/>
              <a:pathLst>
                <a:path h="836463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418231"/>
                  </a:lnTo>
                  <a:lnTo>
                    <a:pt x="228600" y="836463"/>
                  </a:lnTo>
                  <a:lnTo>
                    <a:pt x="0" y="836463"/>
                  </a:lnTo>
                  <a:lnTo>
                    <a:pt x="228600" y="418231"/>
                  </a:lnTo>
                  <a:close/>
                </a:path>
              </a:pathLst>
            </a:custGeom>
            <a:solidFill>
              <a:srgbClr val="D99A4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2971800" y="6382589"/>
            <a:ext cx="742950" cy="69705"/>
            <a:chOff x="0" y="0"/>
            <a:chExt cx="990600" cy="92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0600" cy="92940"/>
            </a:xfrm>
            <a:custGeom>
              <a:avLst/>
              <a:gdLst/>
              <a:ahLst/>
              <a:cxnLst/>
              <a:rect r="r" b="b" t="t" l="l"/>
              <a:pathLst>
                <a:path h="92940" w="990600">
                  <a:moveTo>
                    <a:pt x="0" y="0"/>
                  </a:moveTo>
                  <a:lnTo>
                    <a:pt x="990600" y="929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66686" r="0" b="-148674"/>
              </a:stretch>
            </a:blipFill>
            <a:ln w="57150" cap="sq">
              <a:solidFill>
                <a:srgbClr val="6B463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3425428" y="5755242"/>
            <a:ext cx="342900" cy="627347"/>
            <a:chOff x="0" y="0"/>
            <a:chExt cx="457200" cy="8364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" cy="836463"/>
            </a:xfrm>
            <a:custGeom>
              <a:avLst/>
              <a:gdLst/>
              <a:ahLst/>
              <a:cxnLst/>
              <a:rect r="r" b="b" t="t" l="l"/>
              <a:pathLst>
                <a:path h="836463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418231"/>
                  </a:lnTo>
                  <a:lnTo>
                    <a:pt x="228600" y="836463"/>
                  </a:lnTo>
                  <a:lnTo>
                    <a:pt x="0" y="836463"/>
                  </a:lnTo>
                  <a:lnTo>
                    <a:pt x="228600" y="418231"/>
                  </a:lnTo>
                  <a:close/>
                </a:path>
              </a:pathLst>
            </a:custGeom>
            <a:solidFill>
              <a:srgbClr val="6B4632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29475" y="6382589"/>
            <a:ext cx="1485900" cy="69705"/>
            <a:chOff x="0" y="0"/>
            <a:chExt cx="1981200" cy="9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81200" cy="92940"/>
            </a:xfrm>
            <a:custGeom>
              <a:avLst/>
              <a:gdLst/>
              <a:ahLst/>
              <a:cxnLst/>
              <a:rect r="r" b="b" t="t" l="l"/>
              <a:pathLst>
                <a:path h="92940" w="1981200">
                  <a:moveTo>
                    <a:pt x="0" y="0"/>
                  </a:moveTo>
                  <a:lnTo>
                    <a:pt x="1981200" y="929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374366" r="0" b="-356354"/>
              </a:stretch>
            </a:blipFill>
            <a:ln w="57150" cap="sq">
              <a:solidFill>
                <a:srgbClr val="6B463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8654653" y="3306846"/>
            <a:ext cx="71438" cy="2805635"/>
            <a:chOff x="0" y="0"/>
            <a:chExt cx="95250" cy="37408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250" cy="3740847"/>
            </a:xfrm>
            <a:custGeom>
              <a:avLst/>
              <a:gdLst/>
              <a:ahLst/>
              <a:cxnLst/>
              <a:rect r="r" b="b" t="t" l="l"/>
              <a:pathLst>
                <a:path h="3740847" w="95250">
                  <a:moveTo>
                    <a:pt x="0" y="0"/>
                  </a:moveTo>
                  <a:lnTo>
                    <a:pt x="95250" y="3740847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4081375" t="0" r="-4081375" b="18011"/>
              </a:stretch>
            </a:blipFill>
            <a:ln w="71438" cap="sq">
              <a:solidFill>
                <a:srgbClr val="F26A21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27544" y="4465695"/>
            <a:ext cx="342900" cy="627347"/>
            <a:chOff x="0" y="0"/>
            <a:chExt cx="457200" cy="8364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" cy="836463"/>
            </a:xfrm>
            <a:custGeom>
              <a:avLst/>
              <a:gdLst/>
              <a:ahLst/>
              <a:cxnLst/>
              <a:rect r="r" b="b" t="t" l="l"/>
              <a:pathLst>
                <a:path h="836463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418231"/>
                  </a:lnTo>
                  <a:lnTo>
                    <a:pt x="228600" y="836463"/>
                  </a:lnTo>
                  <a:lnTo>
                    <a:pt x="0" y="836463"/>
                  </a:lnTo>
                  <a:lnTo>
                    <a:pt x="228600" y="418231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7972" y="2200275"/>
            <a:ext cx="2143125" cy="569112"/>
            <a:chOff x="0" y="0"/>
            <a:chExt cx="2857500" cy="7588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57500" cy="758816"/>
            </a:xfrm>
            <a:custGeom>
              <a:avLst/>
              <a:gdLst/>
              <a:ahLst/>
              <a:cxnLst/>
              <a:rect r="r" b="b" t="t" l="l"/>
              <a:pathLst>
                <a:path h="758816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758816"/>
                  </a:lnTo>
                  <a:lnTo>
                    <a:pt x="0" y="7588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249" r="0" b="-3501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857500" cy="758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데이터 들어오는 경로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907756" y="2200275"/>
            <a:ext cx="2571750" cy="505011"/>
            <a:chOff x="0" y="0"/>
            <a:chExt cx="3429000" cy="6733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9000" cy="673347"/>
            </a:xfrm>
            <a:custGeom>
              <a:avLst/>
              <a:gdLst/>
              <a:ahLst/>
              <a:cxnLst/>
              <a:rect r="r" b="b" t="t" l="l"/>
              <a:pathLst>
                <a:path h="673347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73347"/>
                  </a:lnTo>
                  <a:lnTo>
                    <a:pt x="0" y="6733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277" r="0" b="-33176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429000" cy="67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경로별 처리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051631" y="3029868"/>
            <a:ext cx="2143125" cy="505011"/>
            <a:chOff x="0" y="0"/>
            <a:chExt cx="2857500" cy="6733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57500" cy="673347"/>
            </a:xfrm>
            <a:custGeom>
              <a:avLst/>
              <a:gdLst/>
              <a:ahLst/>
              <a:cxnLst/>
              <a:rect r="r" b="b" t="t" l="l"/>
              <a:pathLst>
                <a:path h="673347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673347"/>
                  </a:lnTo>
                  <a:lnTo>
                    <a:pt x="0" y="6733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739" r="0" b="-16638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857500" cy="67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44"/>
                </a:lnSpc>
              </a:pPr>
              <a:r>
                <a:rPr lang="en-US" sz="17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서비스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3684" y="2810196"/>
            <a:ext cx="2114550" cy="1080431"/>
            <a:chOff x="0" y="0"/>
            <a:chExt cx="2819400" cy="14405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19400" cy="1440575"/>
            </a:xfrm>
            <a:custGeom>
              <a:avLst/>
              <a:gdLst/>
              <a:ahLst/>
              <a:cxnLst/>
              <a:rect r="r" b="b" t="t" l="l"/>
              <a:pathLst>
                <a:path h="1440575" w="2819400">
                  <a:moveTo>
                    <a:pt x="0" y="288115"/>
                  </a:moveTo>
                  <a:cubicBezTo>
                    <a:pt x="0" y="129032"/>
                    <a:pt x="105791" y="0"/>
                    <a:pt x="236220" y="0"/>
                  </a:cubicBezTo>
                  <a:lnTo>
                    <a:pt x="2583180" y="0"/>
                  </a:lnTo>
                  <a:cubicBezTo>
                    <a:pt x="2713609" y="0"/>
                    <a:pt x="2819400" y="129032"/>
                    <a:pt x="2819400" y="288115"/>
                  </a:cubicBezTo>
                  <a:lnTo>
                    <a:pt x="2819400" y="1152460"/>
                  </a:lnTo>
                  <a:cubicBezTo>
                    <a:pt x="2819400" y="1311543"/>
                    <a:pt x="2713609" y="1440575"/>
                    <a:pt x="2583180" y="1440575"/>
                  </a:cubicBezTo>
                  <a:lnTo>
                    <a:pt x="236220" y="1440575"/>
                  </a:lnTo>
                  <a:cubicBezTo>
                    <a:pt x="105791" y="1440575"/>
                    <a:pt x="0" y="1311543"/>
                    <a:pt x="0" y="115246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26A21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46572" y="2854833"/>
            <a:ext cx="1628775" cy="530431"/>
            <a:chOff x="0" y="0"/>
            <a:chExt cx="2171700" cy="7072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1700" cy="707241"/>
            </a:xfrm>
            <a:custGeom>
              <a:avLst/>
              <a:gdLst/>
              <a:ahLst/>
              <a:cxnLst/>
              <a:rect r="r" b="b" t="t" l="l"/>
              <a:pathLst>
                <a:path h="707241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707241"/>
                  </a:lnTo>
                  <a:lnTo>
                    <a:pt x="0" y="7072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09" r="0" b="7845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171700" cy="707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메뉴판 사진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46572" y="3335967"/>
            <a:ext cx="1628775" cy="397823"/>
            <a:chOff x="0" y="0"/>
            <a:chExt cx="2171700" cy="5304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71700" cy="530431"/>
            </a:xfrm>
            <a:custGeom>
              <a:avLst/>
              <a:gdLst/>
              <a:ahLst/>
              <a:cxnLst/>
              <a:rect r="r" b="b" t="t" l="l"/>
              <a:pathLst>
                <a:path h="530431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530431"/>
                  </a:lnTo>
                  <a:lnTo>
                    <a:pt x="0" y="530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53" r="0" b="-12098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171700" cy="530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사진·촬영일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3684" y="4169448"/>
            <a:ext cx="2114550" cy="1080431"/>
            <a:chOff x="0" y="0"/>
            <a:chExt cx="2819400" cy="14405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19400" cy="1440575"/>
            </a:xfrm>
            <a:custGeom>
              <a:avLst/>
              <a:gdLst/>
              <a:ahLst/>
              <a:cxnLst/>
              <a:rect r="r" b="b" t="t" l="l"/>
              <a:pathLst>
                <a:path h="1440575" w="2819400">
                  <a:moveTo>
                    <a:pt x="0" y="288115"/>
                  </a:moveTo>
                  <a:cubicBezTo>
                    <a:pt x="0" y="129032"/>
                    <a:pt x="105791" y="0"/>
                    <a:pt x="236220" y="0"/>
                  </a:cubicBezTo>
                  <a:lnTo>
                    <a:pt x="2583180" y="0"/>
                  </a:lnTo>
                  <a:cubicBezTo>
                    <a:pt x="2713609" y="0"/>
                    <a:pt x="2819400" y="129032"/>
                    <a:pt x="2819400" y="288115"/>
                  </a:cubicBezTo>
                  <a:lnTo>
                    <a:pt x="2819400" y="1152460"/>
                  </a:lnTo>
                  <a:cubicBezTo>
                    <a:pt x="2819400" y="1311543"/>
                    <a:pt x="2713609" y="1440575"/>
                    <a:pt x="2583180" y="1440575"/>
                  </a:cubicBezTo>
                  <a:lnTo>
                    <a:pt x="236220" y="1440575"/>
                  </a:lnTo>
                  <a:cubicBezTo>
                    <a:pt x="105791" y="1440575"/>
                    <a:pt x="0" y="1311543"/>
                    <a:pt x="0" y="115246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99A4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6572" y="4326284"/>
            <a:ext cx="1628775" cy="597759"/>
            <a:chOff x="0" y="0"/>
            <a:chExt cx="2171700" cy="7970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71700" cy="797012"/>
            </a:xfrm>
            <a:custGeom>
              <a:avLst/>
              <a:gdLst/>
              <a:ahLst/>
              <a:cxnLst/>
              <a:rect r="r" b="b" t="t" l="l"/>
              <a:pathLst>
                <a:path h="797012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797012"/>
                  </a:lnTo>
                  <a:lnTo>
                    <a:pt x="0" y="797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10" r="0" b="18225"/>
              </a:stretch>
            </a:blipFill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171700" cy="79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학식 웹페이지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6572" y="4695219"/>
            <a:ext cx="1628775" cy="397823"/>
            <a:chOff x="0" y="0"/>
            <a:chExt cx="2171700" cy="5304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71700" cy="530431"/>
            </a:xfrm>
            <a:custGeom>
              <a:avLst/>
              <a:gdLst/>
              <a:ahLst/>
              <a:cxnLst/>
              <a:rect r="r" b="b" t="t" l="l"/>
              <a:pathLst>
                <a:path h="530431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530431"/>
                  </a:lnTo>
                  <a:lnTo>
                    <a:pt x="0" y="530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53" r="0" b="-12098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171700" cy="530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학교 식단 HTML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177308" y="4221727"/>
            <a:ext cx="2811066" cy="1063005"/>
            <a:chOff x="0" y="0"/>
            <a:chExt cx="3748088" cy="14173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748088" cy="1417340"/>
            </a:xfrm>
            <a:custGeom>
              <a:avLst/>
              <a:gdLst/>
              <a:ahLst/>
              <a:cxnLst/>
              <a:rect r="r" b="b" t="t" l="l"/>
              <a:pathLst>
                <a:path h="1417340" w="3748088">
                  <a:moveTo>
                    <a:pt x="0" y="283468"/>
                  </a:moveTo>
                  <a:cubicBezTo>
                    <a:pt x="0" y="126864"/>
                    <a:pt x="95184" y="0"/>
                    <a:pt x="212682" y="0"/>
                  </a:cubicBezTo>
                  <a:lnTo>
                    <a:pt x="3535406" y="0"/>
                  </a:lnTo>
                  <a:cubicBezTo>
                    <a:pt x="3652903" y="0"/>
                    <a:pt x="3748088" y="126864"/>
                    <a:pt x="3748088" y="283468"/>
                  </a:cubicBezTo>
                  <a:lnTo>
                    <a:pt x="3748088" y="1133872"/>
                  </a:lnTo>
                  <a:cubicBezTo>
                    <a:pt x="3748088" y="1290476"/>
                    <a:pt x="3652903" y="1417340"/>
                    <a:pt x="3535406" y="1417340"/>
                  </a:cubicBezTo>
                  <a:lnTo>
                    <a:pt x="212682" y="1417340"/>
                  </a:lnTo>
                  <a:cubicBezTo>
                    <a:pt x="95184" y="1417340"/>
                    <a:pt x="0" y="1290476"/>
                    <a:pt x="0" y="113387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4385072" y="4311862"/>
            <a:ext cx="2543175" cy="597759"/>
            <a:chOff x="0" y="0"/>
            <a:chExt cx="3390900" cy="7970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90900" cy="797012"/>
            </a:xfrm>
            <a:custGeom>
              <a:avLst/>
              <a:gdLst/>
              <a:ahLst/>
              <a:cxnLst/>
              <a:rect r="r" b="b" t="t" l="l"/>
              <a:pathLst>
                <a:path h="797012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797012"/>
                  </a:lnTo>
                  <a:lnTo>
                    <a:pt x="0" y="797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17" r="0" b="-11581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390900" cy="79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매일 06:10 자동 수집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461272" y="4779368"/>
            <a:ext cx="2543175" cy="448319"/>
            <a:chOff x="0" y="0"/>
            <a:chExt cx="3390900" cy="59775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90900" cy="597759"/>
            </a:xfrm>
            <a:custGeom>
              <a:avLst/>
              <a:gdLst/>
              <a:ahLst/>
              <a:cxnLst/>
              <a:rect r="r" b="b" t="t" l="l"/>
              <a:pathLst>
                <a:path h="597759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597759"/>
                  </a:lnTo>
                  <a:lnTo>
                    <a:pt x="0" y="597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50" r="0" b="-39214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390900" cy="59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형식 통일(크롤링) 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03684" y="5528700"/>
            <a:ext cx="2114550" cy="1080431"/>
            <a:chOff x="0" y="0"/>
            <a:chExt cx="2819400" cy="14405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819400" cy="1440575"/>
            </a:xfrm>
            <a:custGeom>
              <a:avLst/>
              <a:gdLst/>
              <a:ahLst/>
              <a:cxnLst/>
              <a:rect r="r" b="b" t="t" l="l"/>
              <a:pathLst>
                <a:path h="1440575" w="2819400">
                  <a:moveTo>
                    <a:pt x="0" y="288115"/>
                  </a:moveTo>
                  <a:cubicBezTo>
                    <a:pt x="0" y="129032"/>
                    <a:pt x="105791" y="0"/>
                    <a:pt x="236220" y="0"/>
                  </a:cubicBezTo>
                  <a:lnTo>
                    <a:pt x="2583180" y="0"/>
                  </a:lnTo>
                  <a:cubicBezTo>
                    <a:pt x="2713609" y="0"/>
                    <a:pt x="2819400" y="129032"/>
                    <a:pt x="2819400" y="288115"/>
                  </a:cubicBezTo>
                  <a:lnTo>
                    <a:pt x="2819400" y="1152460"/>
                  </a:lnTo>
                  <a:cubicBezTo>
                    <a:pt x="2819400" y="1311543"/>
                    <a:pt x="2713609" y="1440575"/>
                    <a:pt x="2583180" y="1440575"/>
                  </a:cubicBezTo>
                  <a:lnTo>
                    <a:pt x="236220" y="1440575"/>
                  </a:lnTo>
                  <a:cubicBezTo>
                    <a:pt x="105791" y="1440575"/>
                    <a:pt x="0" y="1311543"/>
                    <a:pt x="0" y="115246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6B463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46572" y="5573337"/>
            <a:ext cx="1628775" cy="530431"/>
            <a:chOff x="0" y="0"/>
            <a:chExt cx="2171700" cy="70724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71700" cy="707241"/>
            </a:xfrm>
            <a:custGeom>
              <a:avLst/>
              <a:gdLst/>
              <a:ahLst/>
              <a:cxnLst/>
              <a:rect r="r" b="b" t="t" l="l"/>
              <a:pathLst>
                <a:path h="707241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707241"/>
                  </a:lnTo>
                  <a:lnTo>
                    <a:pt x="0" y="7072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09" r="0" b="7845"/>
              </a:stretch>
            </a:blipFill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171700" cy="707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가게 주소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06032" y="6042282"/>
            <a:ext cx="1628775" cy="397823"/>
            <a:chOff x="0" y="0"/>
            <a:chExt cx="2171700" cy="5304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71700" cy="530431"/>
            </a:xfrm>
            <a:custGeom>
              <a:avLst/>
              <a:gdLst/>
              <a:ahLst/>
              <a:cxnLst/>
              <a:rect r="r" b="b" t="t" l="l"/>
              <a:pathLst>
                <a:path h="530431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530431"/>
                  </a:lnTo>
                  <a:lnTo>
                    <a:pt x="0" y="530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53" r="0" b="-12098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2171700" cy="530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주소 텍스트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196953" y="5537413"/>
            <a:ext cx="2825353" cy="1359252"/>
            <a:chOff x="0" y="0"/>
            <a:chExt cx="3767138" cy="18123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767138" cy="1812336"/>
            </a:xfrm>
            <a:custGeom>
              <a:avLst/>
              <a:gdLst/>
              <a:ahLst/>
              <a:cxnLst/>
              <a:rect r="r" b="b" t="t" l="l"/>
              <a:pathLst>
                <a:path h="1812336" w="3767138">
                  <a:moveTo>
                    <a:pt x="0" y="362467"/>
                  </a:moveTo>
                  <a:cubicBezTo>
                    <a:pt x="0" y="162219"/>
                    <a:pt x="95668" y="0"/>
                    <a:pt x="213763" y="0"/>
                  </a:cubicBezTo>
                  <a:lnTo>
                    <a:pt x="3553375" y="0"/>
                  </a:lnTo>
                  <a:cubicBezTo>
                    <a:pt x="3671470" y="0"/>
                    <a:pt x="3767138" y="162219"/>
                    <a:pt x="3767138" y="362467"/>
                  </a:cubicBezTo>
                  <a:lnTo>
                    <a:pt x="3767138" y="1449869"/>
                  </a:lnTo>
                  <a:cubicBezTo>
                    <a:pt x="3767138" y="1650117"/>
                    <a:pt x="3671470" y="1812336"/>
                    <a:pt x="3553375" y="1812336"/>
                  </a:cubicBezTo>
                  <a:lnTo>
                    <a:pt x="213763" y="1812336"/>
                  </a:lnTo>
                  <a:cubicBezTo>
                    <a:pt x="95668" y="1812336"/>
                    <a:pt x="0" y="1650117"/>
                    <a:pt x="0" y="144986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4464844" y="5624544"/>
            <a:ext cx="2543175" cy="923050"/>
            <a:chOff x="0" y="0"/>
            <a:chExt cx="3390900" cy="123073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390900" cy="1230734"/>
            </a:xfrm>
            <a:custGeom>
              <a:avLst/>
              <a:gdLst/>
              <a:ahLst/>
              <a:cxnLst/>
              <a:rect r="r" b="b" t="t" l="l"/>
              <a:pathLst>
                <a:path h="1230734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1230734"/>
                  </a:lnTo>
                  <a:lnTo>
                    <a:pt x="0" y="1230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110" r="0" b="27740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390900" cy="123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5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카카오 로컬 API 이용,</a:t>
              </a:r>
            </a:p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지도 좌표도 함께 기록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464844" y="6511312"/>
            <a:ext cx="2543175" cy="448319"/>
            <a:chOff x="0" y="0"/>
            <a:chExt cx="3390900" cy="59775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390900" cy="597759"/>
            </a:xfrm>
            <a:custGeom>
              <a:avLst/>
              <a:gdLst/>
              <a:ahLst/>
              <a:cxnLst/>
              <a:rect r="r" b="b" t="t" l="l"/>
              <a:pathLst>
                <a:path h="597759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597759"/>
                  </a:lnTo>
                  <a:lnTo>
                    <a:pt x="0" y="597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50" r="0" b="-39214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3390900" cy="59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5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도보 시간 계산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370094" y="3717423"/>
            <a:ext cx="1771650" cy="2021452"/>
            <a:chOff x="0" y="0"/>
            <a:chExt cx="2362200" cy="269526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362200" cy="2695269"/>
            </a:xfrm>
            <a:custGeom>
              <a:avLst/>
              <a:gdLst/>
              <a:ahLst/>
              <a:cxnLst/>
              <a:rect r="r" b="b" t="t" l="l"/>
              <a:pathLst>
                <a:path h="2695269" w="2362200">
                  <a:moveTo>
                    <a:pt x="0" y="278821"/>
                  </a:moveTo>
                  <a:cubicBezTo>
                    <a:pt x="0" y="124850"/>
                    <a:pt x="102362" y="0"/>
                    <a:pt x="228600" y="0"/>
                  </a:cubicBezTo>
                  <a:lnTo>
                    <a:pt x="2133600" y="0"/>
                  </a:lnTo>
                  <a:cubicBezTo>
                    <a:pt x="2259838" y="0"/>
                    <a:pt x="2362200" y="124850"/>
                    <a:pt x="2362200" y="278821"/>
                  </a:cubicBezTo>
                  <a:lnTo>
                    <a:pt x="2362200" y="2416448"/>
                  </a:lnTo>
                  <a:cubicBezTo>
                    <a:pt x="2362200" y="2570419"/>
                    <a:pt x="2259838" y="2695269"/>
                    <a:pt x="2133600" y="2695269"/>
                  </a:cubicBezTo>
                  <a:lnTo>
                    <a:pt x="228600" y="2695269"/>
                  </a:lnTo>
                  <a:cubicBezTo>
                    <a:pt x="102362" y="2695269"/>
                    <a:pt x="0" y="2570419"/>
                    <a:pt x="0" y="2416448"/>
                  </a:cubicBez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1" id="81"/>
          <p:cNvGrpSpPr/>
          <p:nvPr/>
        </p:nvGrpSpPr>
        <p:grpSpPr>
          <a:xfrm rot="0">
            <a:off x="8587978" y="3835756"/>
            <a:ext cx="1314450" cy="673347"/>
            <a:chOff x="0" y="0"/>
            <a:chExt cx="1752600" cy="89779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752600" cy="897797"/>
            </a:xfrm>
            <a:custGeom>
              <a:avLst/>
              <a:gdLst/>
              <a:ahLst/>
              <a:cxnLst/>
              <a:rect r="r" b="b" t="t" l="l"/>
              <a:pathLst>
                <a:path h="897797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897797"/>
                  </a:lnTo>
                  <a:lnTo>
                    <a:pt x="0" y="897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30" r="0" b="32256"/>
              </a:stretch>
            </a:blipFill>
          </p:spPr>
          <p:txBody>
            <a:bodyPr/>
            <a:p/>
          </p:txBody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1752600" cy="907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spc="8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사람 검수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598694" y="4585576"/>
            <a:ext cx="1314450" cy="469281"/>
            <a:chOff x="0" y="0"/>
            <a:chExt cx="1752600" cy="62570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752600" cy="625709"/>
            </a:xfrm>
            <a:custGeom>
              <a:avLst/>
              <a:gdLst/>
              <a:ahLst/>
              <a:cxnLst/>
              <a:rect r="r" b="b" t="t" l="l"/>
              <a:pathLst>
                <a:path h="625709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625709"/>
                  </a:lnTo>
                  <a:lnTo>
                    <a:pt x="0" y="6257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87" r="0" b="11932"/>
              </a:stretch>
            </a:blipFill>
          </p:spPr>
          <p:txBody>
            <a:bodyPr/>
            <a:p/>
          </p:txBody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752600" cy="625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원본 대조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484394" y="5226721"/>
            <a:ext cx="1543050" cy="397823"/>
            <a:chOff x="0" y="0"/>
            <a:chExt cx="2057400" cy="53043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57400" cy="530431"/>
            </a:xfrm>
            <a:custGeom>
              <a:avLst/>
              <a:gdLst/>
              <a:ahLst/>
              <a:cxnLst/>
              <a:rect r="r" b="b" t="t" l="l"/>
              <a:pathLst>
                <a:path h="530431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530431"/>
                  </a:lnTo>
                  <a:lnTo>
                    <a:pt x="0" y="530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254" r="0" b="-7900"/>
              </a:stretch>
            </a:blipFill>
          </p:spPr>
          <p:txBody>
            <a:bodyPr/>
            <a:p/>
          </p:txBody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2057400" cy="530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5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확인·제외·대기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837194" y="3822031"/>
            <a:ext cx="2400300" cy="2021452"/>
            <a:chOff x="0" y="0"/>
            <a:chExt cx="3200400" cy="269526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200400" cy="2695269"/>
            </a:xfrm>
            <a:custGeom>
              <a:avLst/>
              <a:gdLst/>
              <a:ahLst/>
              <a:cxnLst/>
              <a:rect r="r" b="b" t="t" l="l"/>
              <a:pathLst>
                <a:path h="2695269" w="3200400">
                  <a:moveTo>
                    <a:pt x="0" y="278821"/>
                  </a:moveTo>
                  <a:cubicBezTo>
                    <a:pt x="0" y="124850"/>
                    <a:pt x="102362" y="0"/>
                    <a:pt x="228600" y="0"/>
                  </a:cubicBezTo>
                  <a:lnTo>
                    <a:pt x="2971800" y="0"/>
                  </a:lnTo>
                  <a:cubicBezTo>
                    <a:pt x="3098038" y="0"/>
                    <a:pt x="3200400" y="124850"/>
                    <a:pt x="3200400" y="278821"/>
                  </a:cubicBezTo>
                  <a:lnTo>
                    <a:pt x="3200400" y="2416448"/>
                  </a:lnTo>
                  <a:cubicBezTo>
                    <a:pt x="3200400" y="2570419"/>
                    <a:pt x="3098038" y="2695269"/>
                    <a:pt x="2971800" y="2695269"/>
                  </a:cubicBezTo>
                  <a:lnTo>
                    <a:pt x="228600" y="2695269"/>
                  </a:lnTo>
                  <a:cubicBezTo>
                    <a:pt x="102362" y="2695269"/>
                    <a:pt x="0" y="2570419"/>
                    <a:pt x="0" y="2416448"/>
                  </a:cubicBezTo>
                  <a:close/>
                </a:path>
              </a:pathLst>
            </a:custGeom>
            <a:solidFill>
              <a:srgbClr val="201A17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065794" y="3923997"/>
            <a:ext cx="1943100" cy="734497"/>
            <a:chOff x="0" y="0"/>
            <a:chExt cx="2590800" cy="97932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90800" cy="979329"/>
            </a:xfrm>
            <a:custGeom>
              <a:avLst/>
              <a:gdLst/>
              <a:ahLst/>
              <a:cxnLst/>
              <a:rect r="r" b="b" t="t" l="l"/>
              <a:pathLst>
                <a:path h="979329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979329"/>
                  </a:lnTo>
                  <a:lnTo>
                    <a:pt x="0" y="979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69" r="0" b="19274"/>
              </a:stretch>
            </a:blipFill>
          </p:spPr>
          <p:txBody>
            <a:bodyPr/>
            <a:p/>
          </p:txBody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2590800" cy="979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한입지도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027694" y="4625164"/>
            <a:ext cx="2152650" cy="671717"/>
            <a:chOff x="0" y="0"/>
            <a:chExt cx="2870200" cy="8956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870200" cy="895623"/>
            </a:xfrm>
            <a:custGeom>
              <a:avLst/>
              <a:gdLst/>
              <a:ahLst/>
              <a:cxnLst/>
              <a:rect r="r" b="b" t="t" l="l"/>
              <a:pathLst>
                <a:path h="895623" w="2870200">
                  <a:moveTo>
                    <a:pt x="0" y="0"/>
                  </a:moveTo>
                  <a:lnTo>
                    <a:pt x="2870200" y="0"/>
                  </a:lnTo>
                  <a:lnTo>
                    <a:pt x="2870200" y="895623"/>
                  </a:lnTo>
                  <a:lnTo>
                    <a:pt x="0" y="8956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67" r="9734" b="20237"/>
              </a:stretch>
            </a:blipFill>
          </p:spPr>
          <p:txBody>
            <a:bodyPr/>
            <a:p/>
          </p:txBody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2870200" cy="895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4">
                  <a:solidFill>
                    <a:srgbClr val="E9C9A7"/>
                  </a:solidFill>
                  <a:latin typeface="Mandali"/>
                  <a:ea typeface="Mandali"/>
                  <a:cs typeface="Mandali"/>
                  <a:sym typeface="Mandali"/>
                </a:rPr>
                <a:t>예산·도보 시간·태그 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E9C9A7"/>
                  </a:solidFill>
                  <a:latin typeface="Mandali"/>
                  <a:ea typeface="Mandali"/>
                  <a:cs typeface="Mandali"/>
                  <a:sym typeface="Mandali"/>
                </a:rPr>
                <a:t>근거하여 맞춤 추천 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065794" y="5341051"/>
            <a:ext cx="1943100" cy="397823"/>
            <a:chOff x="0" y="0"/>
            <a:chExt cx="2590800" cy="5304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590800" cy="530431"/>
            </a:xfrm>
            <a:custGeom>
              <a:avLst/>
              <a:gdLst/>
              <a:ahLst/>
              <a:cxnLst/>
              <a:rect r="r" b="b" t="t" l="l"/>
              <a:pathLst>
                <a:path h="530431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530431"/>
                  </a:lnTo>
                  <a:lnTo>
                    <a:pt x="0" y="530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48" r="0" b="-27494"/>
              </a:stretch>
            </a:blipFill>
          </p:spPr>
          <p:txBody>
            <a:bodyPr/>
            <a:p/>
          </p:txBody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2590800" cy="530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5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검증된 행만 사용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661356" y="3796950"/>
            <a:ext cx="1385888" cy="2038878"/>
            <a:chOff x="0" y="0"/>
            <a:chExt cx="1847850" cy="271850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847850" cy="2718504"/>
            </a:xfrm>
            <a:custGeom>
              <a:avLst/>
              <a:gdLst/>
              <a:ahLst/>
              <a:cxnLst/>
              <a:rect r="r" b="b" t="t" l="l"/>
              <a:pathLst>
                <a:path h="2718504" w="1847850">
                  <a:moveTo>
                    <a:pt x="0" y="281764"/>
                  </a:moveTo>
                  <a:cubicBezTo>
                    <a:pt x="0" y="126089"/>
                    <a:pt x="103378" y="0"/>
                    <a:pt x="231013" y="0"/>
                  </a:cubicBezTo>
                  <a:lnTo>
                    <a:pt x="1616837" y="0"/>
                  </a:lnTo>
                  <a:cubicBezTo>
                    <a:pt x="1744345" y="0"/>
                    <a:pt x="1847850" y="126089"/>
                    <a:pt x="1847850" y="281764"/>
                  </a:cubicBezTo>
                  <a:lnTo>
                    <a:pt x="1847850" y="2436740"/>
                  </a:lnTo>
                  <a:cubicBezTo>
                    <a:pt x="1847850" y="2592260"/>
                    <a:pt x="1744472" y="2718504"/>
                    <a:pt x="1616837" y="2718504"/>
                  </a:cubicBezTo>
                  <a:lnTo>
                    <a:pt x="231013" y="2718504"/>
                  </a:lnTo>
                  <a:cubicBezTo>
                    <a:pt x="103378" y="2718504"/>
                    <a:pt x="0" y="2592415"/>
                    <a:pt x="0" y="2436740"/>
                  </a:cubicBezTo>
                  <a:close/>
                </a:path>
              </a:pathLst>
            </a:custGeom>
            <a:solidFill>
              <a:srgbClr val="FBE5C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839950" y="4067410"/>
            <a:ext cx="1028700" cy="505011"/>
            <a:chOff x="0" y="0"/>
            <a:chExt cx="1371600" cy="67334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371600" cy="673347"/>
            </a:xfrm>
            <a:custGeom>
              <a:avLst/>
              <a:gdLst/>
              <a:ahLst/>
              <a:cxnLst/>
              <a:rect r="r" b="b" t="t" l="l"/>
              <a:pathLst>
                <a:path h="673347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73347"/>
                  </a:lnTo>
                  <a:lnTo>
                    <a:pt x="0" y="6733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40" r="0" b="26359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371600" cy="67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추천 이유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657221" y="4707267"/>
            <a:ext cx="1390023" cy="433552"/>
            <a:chOff x="0" y="0"/>
            <a:chExt cx="1853364" cy="57807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853364" cy="578070"/>
            </a:xfrm>
            <a:custGeom>
              <a:avLst/>
              <a:gdLst/>
              <a:ahLst/>
              <a:cxnLst/>
              <a:rect r="r" b="b" t="t" l="l"/>
              <a:pathLst>
                <a:path h="578070" w="1853364">
                  <a:moveTo>
                    <a:pt x="0" y="0"/>
                  </a:moveTo>
                  <a:lnTo>
                    <a:pt x="1853364" y="0"/>
                  </a:lnTo>
                  <a:lnTo>
                    <a:pt x="1853364" y="578070"/>
                  </a:lnTo>
                  <a:lnTo>
                    <a:pt x="0" y="5780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78" r="25994" b="20812"/>
              </a:stretch>
            </a:blipFill>
          </p:spPr>
          <p:txBody>
            <a:bodyPr/>
            <a:p/>
          </p:txBody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1853364" cy="578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5"/>
                </a:lnSpc>
              </a:pPr>
              <a:r>
                <a:rPr lang="en-US" sz="1462" spc="5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Solar-pro2 생성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4558146" y="5143500"/>
            <a:ext cx="1588171" cy="614312"/>
            <a:chOff x="0" y="0"/>
            <a:chExt cx="2117562" cy="81908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117562" cy="819083"/>
            </a:xfrm>
            <a:custGeom>
              <a:avLst/>
              <a:gdLst/>
              <a:ahLst/>
              <a:cxnLst/>
              <a:rect r="r" b="b" t="t" l="l"/>
              <a:pathLst>
                <a:path h="819083" w="2117562">
                  <a:moveTo>
                    <a:pt x="0" y="0"/>
                  </a:moveTo>
                  <a:lnTo>
                    <a:pt x="2117562" y="0"/>
                  </a:lnTo>
                  <a:lnTo>
                    <a:pt x="2117562" y="819083"/>
                  </a:lnTo>
                  <a:lnTo>
                    <a:pt x="0" y="819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" r="35227" b="34810"/>
              </a:stretch>
            </a:blipFill>
          </p:spPr>
          <p:txBody>
            <a:bodyPr/>
            <a:p/>
          </p:txBody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2117562" cy="819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4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Solar-mini가 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spc="5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근거 판정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32259" y="6959631"/>
            <a:ext cx="2857500" cy="780775"/>
            <a:chOff x="0" y="0"/>
            <a:chExt cx="3810000" cy="104103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810000" cy="1041033"/>
            </a:xfrm>
            <a:custGeom>
              <a:avLst/>
              <a:gdLst/>
              <a:ahLst/>
              <a:cxnLst/>
              <a:rect r="r" b="b" t="t" l="l"/>
              <a:pathLst>
                <a:path h="1041033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041033"/>
                  </a:lnTo>
                  <a:lnTo>
                    <a:pt x="0" y="10410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522" r="0" b="4899"/>
              </a:stretch>
            </a:blipFill>
          </p:spPr>
          <p:txBody>
            <a:bodyPr/>
            <a:p/>
          </p:txBody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3810000" cy="1041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4"/>
                </a:lnSpc>
              </a:pPr>
              <a:r>
                <a:rPr lang="en-US" sz="2837" spc="11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단계별 처리 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3375422" y="8162837"/>
            <a:ext cx="342900" cy="432945"/>
            <a:chOff x="0" y="0"/>
            <a:chExt cx="457200" cy="5772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57200" cy="577260"/>
            </a:xfrm>
            <a:custGeom>
              <a:avLst/>
              <a:gdLst/>
              <a:ahLst/>
              <a:cxnLst/>
              <a:rect r="r" b="b" t="t" l="l"/>
              <a:pathLst>
                <a:path h="577260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288630"/>
                  </a:lnTo>
                  <a:lnTo>
                    <a:pt x="228600" y="577260"/>
                  </a:lnTo>
                  <a:lnTo>
                    <a:pt x="0" y="577260"/>
                  </a:lnTo>
                  <a:lnTo>
                    <a:pt x="228600" y="28863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072312" y="8155872"/>
            <a:ext cx="342900" cy="432945"/>
            <a:chOff x="0" y="0"/>
            <a:chExt cx="457200" cy="57726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57200" cy="577260"/>
            </a:xfrm>
            <a:custGeom>
              <a:avLst/>
              <a:gdLst/>
              <a:ahLst/>
              <a:cxnLst/>
              <a:rect r="r" b="b" t="t" l="l"/>
              <a:pathLst>
                <a:path h="577260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288630"/>
                  </a:lnTo>
                  <a:lnTo>
                    <a:pt x="228600" y="577260"/>
                  </a:lnTo>
                  <a:lnTo>
                    <a:pt x="0" y="577260"/>
                  </a:lnTo>
                  <a:lnTo>
                    <a:pt x="228600" y="28863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4157662" y="7746894"/>
            <a:ext cx="2814638" cy="1118440"/>
            <a:chOff x="0" y="0"/>
            <a:chExt cx="3752850" cy="149125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752850" cy="1491254"/>
            </a:xfrm>
            <a:custGeom>
              <a:avLst/>
              <a:gdLst/>
              <a:ahLst/>
              <a:cxnLst/>
              <a:rect r="r" b="b" t="t" l="l"/>
              <a:pathLst>
                <a:path h="1491254" w="3752850">
                  <a:moveTo>
                    <a:pt x="0" y="194451"/>
                  </a:moveTo>
                  <a:cubicBezTo>
                    <a:pt x="0" y="87123"/>
                    <a:pt x="103505" y="0"/>
                    <a:pt x="231013" y="0"/>
                  </a:cubicBezTo>
                  <a:lnTo>
                    <a:pt x="3521837" y="0"/>
                  </a:lnTo>
                  <a:cubicBezTo>
                    <a:pt x="3649472" y="0"/>
                    <a:pt x="3752850" y="87123"/>
                    <a:pt x="3752850" y="194451"/>
                  </a:cubicBezTo>
                  <a:lnTo>
                    <a:pt x="3752850" y="1296803"/>
                  </a:lnTo>
                  <a:cubicBezTo>
                    <a:pt x="3752850" y="1404237"/>
                    <a:pt x="3649345" y="1491254"/>
                    <a:pt x="3521837" y="1491254"/>
                  </a:cubicBezTo>
                  <a:lnTo>
                    <a:pt x="231013" y="1491254"/>
                  </a:lnTo>
                  <a:cubicBezTo>
                    <a:pt x="103505" y="1491254"/>
                    <a:pt x="0" y="1404131"/>
                    <a:pt x="0" y="129680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4338637" y="7912705"/>
            <a:ext cx="2343150" cy="466604"/>
            <a:chOff x="0" y="0"/>
            <a:chExt cx="3124200" cy="62213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124200" cy="622139"/>
            </a:xfrm>
            <a:custGeom>
              <a:avLst/>
              <a:gdLst/>
              <a:ahLst/>
              <a:cxnLst/>
              <a:rect r="r" b="b" t="t" l="l"/>
              <a:pathLst>
                <a:path h="622139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622139"/>
                  </a:lnTo>
                  <a:lnTo>
                    <a:pt x="0" y="6221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03" r="0" b="-34592"/>
              </a:stretch>
            </a:blipFill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3124200" cy="622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② 파싱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4385072" y="8220159"/>
            <a:ext cx="2343150" cy="909842"/>
            <a:chOff x="0" y="0"/>
            <a:chExt cx="3124200" cy="121312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124200" cy="1213123"/>
            </a:xfrm>
            <a:custGeom>
              <a:avLst/>
              <a:gdLst/>
              <a:ahLst/>
              <a:cxnLst/>
              <a:rect r="r" b="b" t="t" l="l"/>
              <a:pathLst>
                <a:path h="1213123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1213123"/>
                  </a:lnTo>
                  <a:lnTo>
                    <a:pt x="0" y="12131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66" r="0" b="29405"/>
              </a:stretch>
            </a:blipFill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3124200" cy="121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0"/>
                </a:lnSpc>
              </a:pPr>
              <a:r>
                <a:rPr lang="en-US" sz="1375" spc="4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Document Parse</a:t>
              </a:r>
            </a:p>
            <a:p>
              <a:pPr algn="l">
                <a:lnSpc>
                  <a:spcPts val="1650"/>
                </a:lnSpc>
              </a:pPr>
              <a:r>
                <a:rPr lang="en-US" sz="1375" spc="4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메뉴명·가격 추출</a:t>
              </a:r>
            </a:p>
            <a:p>
              <a:pPr algn="l">
                <a:lnSpc>
                  <a:spcPts val="1650"/>
                </a:lnSpc>
              </a:pP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0372725" y="8162837"/>
            <a:ext cx="342900" cy="432945"/>
            <a:chOff x="0" y="0"/>
            <a:chExt cx="457200" cy="57726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57200" cy="577260"/>
            </a:xfrm>
            <a:custGeom>
              <a:avLst/>
              <a:gdLst/>
              <a:ahLst/>
              <a:cxnLst/>
              <a:rect r="r" b="b" t="t" l="l"/>
              <a:pathLst>
                <a:path h="577260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288630"/>
                  </a:lnTo>
                  <a:lnTo>
                    <a:pt x="228600" y="577260"/>
                  </a:lnTo>
                  <a:lnTo>
                    <a:pt x="0" y="577260"/>
                  </a:lnTo>
                  <a:lnTo>
                    <a:pt x="228600" y="28863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7493794" y="7776269"/>
            <a:ext cx="2814638" cy="1166798"/>
            <a:chOff x="0" y="0"/>
            <a:chExt cx="3752850" cy="1555730"/>
          </a:xfrm>
        </p:grpSpPr>
        <p:grpSp>
          <p:nvGrpSpPr>
            <p:cNvPr name="Group 130" id="130"/>
            <p:cNvGrpSpPr/>
            <p:nvPr/>
          </p:nvGrpSpPr>
          <p:grpSpPr>
            <a:xfrm rot="0">
              <a:off x="0" y="0"/>
              <a:ext cx="3752850" cy="1491254"/>
              <a:chOff x="0" y="0"/>
              <a:chExt cx="3752850" cy="1491254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3752850" cy="1491254"/>
              </a:xfrm>
              <a:custGeom>
                <a:avLst/>
                <a:gdLst/>
                <a:ahLst/>
                <a:cxnLst/>
                <a:rect r="r" b="b" t="t" l="l"/>
                <a:pathLst>
                  <a:path h="1491254" w="3752850">
                    <a:moveTo>
                      <a:pt x="0" y="194451"/>
                    </a:moveTo>
                    <a:cubicBezTo>
                      <a:pt x="0" y="87123"/>
                      <a:pt x="103505" y="0"/>
                      <a:pt x="231013" y="0"/>
                    </a:cubicBezTo>
                    <a:lnTo>
                      <a:pt x="3521837" y="0"/>
                    </a:lnTo>
                    <a:cubicBezTo>
                      <a:pt x="3649472" y="0"/>
                      <a:pt x="3752850" y="87123"/>
                      <a:pt x="3752850" y="194451"/>
                    </a:cubicBezTo>
                    <a:lnTo>
                      <a:pt x="3752850" y="1296803"/>
                    </a:lnTo>
                    <a:cubicBezTo>
                      <a:pt x="3752850" y="1404237"/>
                      <a:pt x="3649345" y="1491254"/>
                      <a:pt x="3521837" y="1491254"/>
                    </a:cubicBezTo>
                    <a:lnTo>
                      <a:pt x="231013" y="1491254"/>
                    </a:lnTo>
                    <a:cubicBezTo>
                      <a:pt x="103505" y="1491254"/>
                      <a:pt x="0" y="1404131"/>
                      <a:pt x="0" y="1296803"/>
                    </a:cubicBezTo>
                    <a:close/>
                  </a:path>
                </a:pathLst>
              </a:custGeom>
              <a:solidFill>
                <a:srgbClr val="F26A21"/>
              </a:solidFill>
              <a:ln w="14288" cap="sq">
                <a:solidFill>
                  <a:srgbClr val="F26A21"/>
                </a:solidFill>
                <a:prstDash val="solid"/>
                <a:miter/>
              </a:ln>
            </p:spPr>
            <p:txBody>
              <a:bodyPr/>
              <a:p/>
            </p:txBody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295275" y="123488"/>
              <a:ext cx="3124200" cy="622139"/>
              <a:chOff x="0" y="0"/>
              <a:chExt cx="3124200" cy="622139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3124200" cy="622139"/>
              </a:xfrm>
              <a:custGeom>
                <a:avLst/>
                <a:gdLst/>
                <a:ahLst/>
                <a:cxnLst/>
                <a:rect r="r" b="b" t="t" l="l"/>
                <a:pathLst>
                  <a:path h="622139" w="3124200">
                    <a:moveTo>
                      <a:pt x="0" y="0"/>
                    </a:moveTo>
                    <a:lnTo>
                      <a:pt x="3124200" y="0"/>
                    </a:lnTo>
                    <a:lnTo>
                      <a:pt x="3124200" y="622139"/>
                    </a:lnTo>
                    <a:lnTo>
                      <a:pt x="0" y="62213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1103" r="0" b="-34592"/>
                </a:stretch>
              </a:blipFill>
            </p:spPr>
            <p:txBody>
              <a:bodyPr/>
              <a:p/>
            </p:txBody>
          </p:sp>
          <p:sp>
            <p:nvSpPr>
              <p:cNvPr name="TextBox 134" id="134"/>
              <p:cNvSpPr txBox="true"/>
              <p:nvPr/>
            </p:nvSpPr>
            <p:spPr>
              <a:xfrm>
                <a:off x="0" y="0"/>
                <a:ext cx="3124200" cy="62213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5"/>
                  </a:lnSpc>
                </a:pPr>
                <a:r>
                  <a:rPr lang="en-US" sz="1687" spc="6">
                    <a:solidFill>
                      <a:srgbClr val="FFFFFF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③ 검수</a:t>
                </a:r>
              </a:p>
            </p:txBody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219075" y="660107"/>
              <a:ext cx="3314700" cy="895623"/>
              <a:chOff x="0" y="0"/>
              <a:chExt cx="3314700" cy="895623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3314700" cy="895623"/>
              </a:xfrm>
              <a:custGeom>
                <a:avLst/>
                <a:gdLst/>
                <a:ahLst/>
                <a:cxnLst/>
                <a:rect r="r" b="b" t="t" l="l"/>
                <a:pathLst>
                  <a:path h="895623" w="3314700">
                    <a:moveTo>
                      <a:pt x="0" y="0"/>
                    </a:moveTo>
                    <a:lnTo>
                      <a:pt x="3314700" y="0"/>
                    </a:lnTo>
                    <a:lnTo>
                      <a:pt x="3314700" y="895623"/>
                    </a:lnTo>
                    <a:lnTo>
                      <a:pt x="0" y="89562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40318" r="5747" b="4379"/>
                </a:stretch>
              </a:blipFill>
            </p:spPr>
            <p:txBody>
              <a:bodyPr/>
              <a:p/>
            </p:txBody>
          </p:sp>
          <p:sp>
            <p:nvSpPr>
              <p:cNvPr name="TextBox 137" id="137"/>
              <p:cNvSpPr txBox="true"/>
              <p:nvPr/>
            </p:nvSpPr>
            <p:spPr>
              <a:xfrm>
                <a:off x="0" y="0"/>
                <a:ext cx="3314700" cy="89562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50"/>
                  </a:lnSpc>
                </a:pPr>
                <a:r>
                  <a:rPr lang="en-US" sz="1375" spc="4">
                    <a:solidFill>
                      <a:srgbClr val="FFFFFF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운영진이 </a:t>
                </a:r>
                <a:r>
                  <a:rPr lang="en-US" sz="1375" spc="4">
                    <a:solidFill>
                      <a:srgbClr val="FFFFFF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원본과 한 줄씩 대조</a:t>
                </a:r>
              </a:p>
              <a:p>
                <a:pPr algn="l">
                  <a:lnSpc>
                    <a:spcPts val="1650"/>
                  </a:lnSpc>
                </a:pPr>
              </a:p>
            </p:txBody>
          </p:sp>
        </p:grpSp>
      </p:grpSp>
      <p:grpSp>
        <p:nvGrpSpPr>
          <p:cNvPr name="Group 138" id="138"/>
          <p:cNvGrpSpPr/>
          <p:nvPr/>
        </p:nvGrpSpPr>
        <p:grpSpPr>
          <a:xfrm rot="0">
            <a:off x="13692188" y="8162837"/>
            <a:ext cx="342900" cy="432945"/>
            <a:chOff x="0" y="0"/>
            <a:chExt cx="457200" cy="57726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57200" cy="577260"/>
            </a:xfrm>
            <a:custGeom>
              <a:avLst/>
              <a:gdLst/>
              <a:ahLst/>
              <a:cxnLst/>
              <a:rect r="r" b="b" t="t" l="l"/>
              <a:pathLst>
                <a:path h="577260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288630"/>
                  </a:lnTo>
                  <a:lnTo>
                    <a:pt x="228600" y="577260"/>
                  </a:lnTo>
                  <a:lnTo>
                    <a:pt x="0" y="577260"/>
                  </a:lnTo>
                  <a:lnTo>
                    <a:pt x="228600" y="28863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0810875" y="7776269"/>
            <a:ext cx="2814638" cy="1118440"/>
            <a:chOff x="0" y="0"/>
            <a:chExt cx="3752850" cy="149125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752850" cy="1491254"/>
            </a:xfrm>
            <a:custGeom>
              <a:avLst/>
              <a:gdLst/>
              <a:ahLst/>
              <a:cxnLst/>
              <a:rect r="r" b="b" t="t" l="l"/>
              <a:pathLst>
                <a:path h="1491254" w="3752850">
                  <a:moveTo>
                    <a:pt x="0" y="194451"/>
                  </a:moveTo>
                  <a:cubicBezTo>
                    <a:pt x="0" y="87123"/>
                    <a:pt x="103505" y="0"/>
                    <a:pt x="231013" y="0"/>
                  </a:cubicBezTo>
                  <a:lnTo>
                    <a:pt x="3521837" y="0"/>
                  </a:lnTo>
                  <a:cubicBezTo>
                    <a:pt x="3649472" y="0"/>
                    <a:pt x="3752850" y="87123"/>
                    <a:pt x="3752850" y="194451"/>
                  </a:cubicBezTo>
                  <a:lnTo>
                    <a:pt x="3752850" y="1296803"/>
                  </a:lnTo>
                  <a:cubicBezTo>
                    <a:pt x="3752850" y="1404237"/>
                    <a:pt x="3649345" y="1491254"/>
                    <a:pt x="3521837" y="1491254"/>
                  </a:cubicBezTo>
                  <a:lnTo>
                    <a:pt x="231013" y="1491254"/>
                  </a:lnTo>
                  <a:cubicBezTo>
                    <a:pt x="103505" y="1491254"/>
                    <a:pt x="0" y="1404131"/>
                    <a:pt x="0" y="129680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1060906" y="7868885"/>
            <a:ext cx="2343150" cy="466604"/>
            <a:chOff x="0" y="0"/>
            <a:chExt cx="3124200" cy="622139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124200" cy="622139"/>
            </a:xfrm>
            <a:custGeom>
              <a:avLst/>
              <a:gdLst/>
              <a:ahLst/>
              <a:cxnLst/>
              <a:rect r="r" b="b" t="t" l="l"/>
              <a:pathLst>
                <a:path h="622139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622139"/>
                  </a:lnTo>
                  <a:lnTo>
                    <a:pt x="0" y="6221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03" r="0" b="-34592"/>
              </a:stretch>
            </a:blipFill>
          </p:spPr>
          <p:txBody>
            <a:bodyPr/>
            <a:p/>
          </p:txBody>
        </p:sp>
        <p:sp>
          <p:nvSpPr>
            <p:cNvPr name="TextBox 144" id="144"/>
            <p:cNvSpPr txBox="true"/>
            <p:nvPr/>
          </p:nvSpPr>
          <p:spPr>
            <a:xfrm>
              <a:off x="0" y="0"/>
              <a:ext cx="3124200" cy="622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④ 보강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0998994" y="8222992"/>
            <a:ext cx="2739549" cy="671717"/>
            <a:chOff x="0" y="0"/>
            <a:chExt cx="3652732" cy="89562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652732" cy="895623"/>
            </a:xfrm>
            <a:custGeom>
              <a:avLst/>
              <a:gdLst/>
              <a:ahLst/>
              <a:cxnLst/>
              <a:rect r="r" b="b" t="t" l="l"/>
              <a:pathLst>
                <a:path h="895623" w="3652732">
                  <a:moveTo>
                    <a:pt x="0" y="0"/>
                  </a:moveTo>
                  <a:lnTo>
                    <a:pt x="3652732" y="0"/>
                  </a:lnTo>
                  <a:lnTo>
                    <a:pt x="3652732" y="895623"/>
                  </a:lnTo>
                  <a:lnTo>
                    <a:pt x="0" y="8956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18" r="14469" b="4379"/>
              </a:stretch>
            </a:blipFill>
          </p:spPr>
          <p:txBody>
            <a:bodyPr/>
            <a:p/>
          </p:txBody>
        </p:sp>
        <p:sp>
          <p:nvSpPr>
            <p:cNvPr name="TextBox 147" id="147"/>
            <p:cNvSpPr txBox="true"/>
            <p:nvPr/>
          </p:nvSpPr>
          <p:spPr>
            <a:xfrm>
              <a:off x="0" y="0"/>
              <a:ext cx="3652732" cy="895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0"/>
                </a:lnSpc>
              </a:pPr>
              <a:r>
                <a:rPr lang="en-US" sz="1375" spc="4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식당 비고, 누락 데이터 기입</a:t>
              </a:r>
            </a:p>
            <a:p>
              <a:pPr algn="l">
                <a:lnSpc>
                  <a:spcPts val="1650"/>
                </a:lnSpc>
              </a:pPr>
              <a:r>
                <a:rPr lang="en-US" sz="1375" spc="5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훼손 데이터 수정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4132719" y="7775321"/>
            <a:ext cx="2814638" cy="1118440"/>
            <a:chOff x="0" y="0"/>
            <a:chExt cx="3752850" cy="1491254"/>
          </a:xfrm>
        </p:grpSpPr>
        <p:grpSp>
          <p:nvGrpSpPr>
            <p:cNvPr name="Group 149" id="149"/>
            <p:cNvGrpSpPr/>
            <p:nvPr/>
          </p:nvGrpSpPr>
          <p:grpSpPr>
            <a:xfrm rot="0">
              <a:off x="0" y="0"/>
              <a:ext cx="3752850" cy="1491254"/>
              <a:chOff x="0" y="0"/>
              <a:chExt cx="3752850" cy="1491254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3752850" cy="1491254"/>
              </a:xfrm>
              <a:custGeom>
                <a:avLst/>
                <a:gdLst/>
                <a:ahLst/>
                <a:cxnLst/>
                <a:rect r="r" b="b" t="t" l="l"/>
                <a:pathLst>
                  <a:path h="1491254" w="3752850">
                    <a:moveTo>
                      <a:pt x="0" y="194451"/>
                    </a:moveTo>
                    <a:cubicBezTo>
                      <a:pt x="0" y="87123"/>
                      <a:pt x="103505" y="0"/>
                      <a:pt x="231013" y="0"/>
                    </a:cubicBezTo>
                    <a:lnTo>
                      <a:pt x="3521837" y="0"/>
                    </a:lnTo>
                    <a:cubicBezTo>
                      <a:pt x="3649472" y="0"/>
                      <a:pt x="3752850" y="87123"/>
                      <a:pt x="3752850" y="194451"/>
                    </a:cubicBezTo>
                    <a:lnTo>
                      <a:pt x="3752850" y="1296803"/>
                    </a:lnTo>
                    <a:cubicBezTo>
                      <a:pt x="3752850" y="1404237"/>
                      <a:pt x="3649345" y="1491254"/>
                      <a:pt x="3521837" y="1491254"/>
                    </a:cubicBezTo>
                    <a:lnTo>
                      <a:pt x="231013" y="1491254"/>
                    </a:lnTo>
                    <a:cubicBezTo>
                      <a:pt x="103505" y="1491254"/>
                      <a:pt x="0" y="1404131"/>
                      <a:pt x="0" y="1296803"/>
                    </a:cubicBezTo>
                    <a:close/>
                  </a:path>
                </a:pathLst>
              </a:custGeom>
              <a:solidFill>
                <a:srgbClr val="201A17"/>
              </a:solidFill>
              <a:ln w="14288" cap="sq">
                <a:solidFill>
                  <a:srgbClr val="201A17"/>
                </a:solidFill>
                <a:prstDash val="solid"/>
                <a:miter/>
              </a:ln>
            </p:spPr>
            <p:txBody>
              <a:bodyPr/>
              <a:p/>
            </p:txBody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217445" y="123488"/>
              <a:ext cx="3124200" cy="622139"/>
              <a:chOff x="0" y="0"/>
              <a:chExt cx="3124200" cy="622139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3124200" cy="622139"/>
              </a:xfrm>
              <a:custGeom>
                <a:avLst/>
                <a:gdLst/>
                <a:ahLst/>
                <a:cxnLst/>
                <a:rect r="r" b="b" t="t" l="l"/>
                <a:pathLst>
                  <a:path h="622139" w="3124200">
                    <a:moveTo>
                      <a:pt x="0" y="0"/>
                    </a:moveTo>
                    <a:lnTo>
                      <a:pt x="3124200" y="0"/>
                    </a:lnTo>
                    <a:lnTo>
                      <a:pt x="3124200" y="622139"/>
                    </a:lnTo>
                    <a:lnTo>
                      <a:pt x="0" y="62213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1103" r="0" b="-34592"/>
                </a:stretch>
              </a:blipFill>
            </p:spPr>
            <p:txBody>
              <a:bodyPr/>
              <a:p/>
            </p:txBody>
          </p:sp>
          <p:sp>
            <p:nvSpPr>
              <p:cNvPr name="TextBox 153" id="153"/>
              <p:cNvSpPr txBox="true"/>
              <p:nvPr/>
            </p:nvSpPr>
            <p:spPr>
              <a:xfrm>
                <a:off x="0" y="0"/>
                <a:ext cx="3124200" cy="62213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5"/>
                  </a:lnSpc>
                </a:pPr>
                <a:r>
                  <a:rPr lang="en-US" sz="1687" spc="6">
                    <a:solidFill>
                      <a:srgbClr val="FFFFFF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⑤ 서비스</a:t>
                </a:r>
              </a:p>
            </p:txBody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314325" y="658843"/>
              <a:ext cx="3124200" cy="832411"/>
              <a:chOff x="0" y="0"/>
              <a:chExt cx="3124200" cy="832411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3124200" cy="832411"/>
              </a:xfrm>
              <a:custGeom>
                <a:avLst/>
                <a:gdLst/>
                <a:ahLst/>
                <a:cxnLst/>
                <a:rect r="r" b="b" t="t" l="l"/>
                <a:pathLst>
                  <a:path h="832411" w="3124200">
                    <a:moveTo>
                      <a:pt x="0" y="0"/>
                    </a:moveTo>
                    <a:lnTo>
                      <a:pt x="3124200" y="0"/>
                    </a:lnTo>
                    <a:lnTo>
                      <a:pt x="3124200" y="832411"/>
                    </a:lnTo>
                    <a:lnTo>
                      <a:pt x="0" y="83241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43380" r="0" b="-2882"/>
                </a:stretch>
              </a:blipFill>
            </p:spPr>
            <p:txBody>
              <a:bodyPr/>
              <a:p/>
            </p:txBody>
          </p:sp>
          <p:sp>
            <p:nvSpPr>
              <p:cNvPr name="TextBox 156" id="156"/>
              <p:cNvSpPr txBox="true"/>
              <p:nvPr/>
            </p:nvSpPr>
            <p:spPr>
              <a:xfrm>
                <a:off x="0" y="-9525"/>
                <a:ext cx="3124200" cy="8419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59"/>
                  </a:lnSpc>
                </a:pPr>
                <a:r>
                  <a:rPr lang="en-US" sz="1299" spc="5">
                    <a:solidFill>
                      <a:srgbClr val="FFFFFF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예산 </a:t>
                </a:r>
                <a:r>
                  <a:rPr lang="en-US" sz="1299" spc="5">
                    <a:solidFill>
                      <a:srgbClr val="FFFFFF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필터→Solar 추천 이유 생성 → 검증</a:t>
                </a:r>
              </a:p>
            </p:txBody>
          </p:sp>
        </p:grpSp>
      </p:grpSp>
      <p:sp>
        <p:nvSpPr>
          <p:cNvPr name="TextBox 157" id="157"/>
          <p:cNvSpPr txBox="true"/>
          <p:nvPr/>
        </p:nvSpPr>
        <p:spPr>
          <a:xfrm rot="0">
            <a:off x="1559719" y="9130002"/>
            <a:ext cx="79009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spc="6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 ※ </a:t>
            </a:r>
            <a:r>
              <a:rPr lang="en-US" sz="2025" spc="6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학식에는 파싱을 쓰지 않음</a:t>
            </a:r>
          </a:p>
          <a:p>
            <a:pPr algn="ctr">
              <a:lnSpc>
                <a:spcPts val="2430"/>
              </a:lnSpc>
            </a:pPr>
          </a:p>
          <a:p>
            <a:pPr algn="ctr">
              <a:lnSpc>
                <a:spcPts val="2430"/>
              </a:lnSpc>
            </a:pPr>
            <a:r>
              <a:rPr lang="en-US" sz="2025" spc="7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→ </a:t>
            </a:r>
            <a:r>
              <a:rPr lang="en-US" sz="2025" spc="7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이미 표로 정리된 HTML이라 파싱하면 비용은 늘고 정확도는 떨어짐</a:t>
            </a:r>
          </a:p>
        </p:txBody>
      </p:sp>
      <p:grpSp>
        <p:nvGrpSpPr>
          <p:cNvPr name="Group 158" id="158"/>
          <p:cNvGrpSpPr/>
          <p:nvPr/>
        </p:nvGrpSpPr>
        <p:grpSpPr>
          <a:xfrm rot="0">
            <a:off x="932259" y="7775321"/>
            <a:ext cx="2578894" cy="1549057"/>
            <a:chOff x="0" y="0"/>
            <a:chExt cx="3438525" cy="2065409"/>
          </a:xfrm>
        </p:grpSpPr>
        <p:grpSp>
          <p:nvGrpSpPr>
            <p:cNvPr name="Group 159" id="159"/>
            <p:cNvGrpSpPr/>
            <p:nvPr/>
          </p:nvGrpSpPr>
          <p:grpSpPr>
            <a:xfrm rot="0">
              <a:off x="0" y="0"/>
              <a:ext cx="2738438" cy="1491254"/>
              <a:chOff x="0" y="0"/>
              <a:chExt cx="2738438" cy="1491254"/>
            </a:xfrm>
          </p:grpSpPr>
          <p:sp>
            <p:nvSpPr>
              <p:cNvPr name="Freeform 160" id="160"/>
              <p:cNvSpPr/>
              <p:nvPr/>
            </p:nvSpPr>
            <p:spPr>
              <a:xfrm flipH="false" flipV="false" rot="0">
                <a:off x="0" y="0"/>
                <a:ext cx="2738438" cy="1491254"/>
              </a:xfrm>
              <a:custGeom>
                <a:avLst/>
                <a:gdLst/>
                <a:ahLst/>
                <a:cxnLst/>
                <a:rect r="r" b="b" t="t" l="l"/>
                <a:pathLst>
                  <a:path h="1491254" w="2738438">
                    <a:moveTo>
                      <a:pt x="0" y="194451"/>
                    </a:moveTo>
                    <a:cubicBezTo>
                      <a:pt x="0" y="87123"/>
                      <a:pt x="75527" y="0"/>
                      <a:pt x="168569" y="0"/>
                    </a:cubicBezTo>
                    <a:lnTo>
                      <a:pt x="2569868" y="0"/>
                    </a:lnTo>
                    <a:cubicBezTo>
                      <a:pt x="2663003" y="0"/>
                      <a:pt x="2738438" y="87123"/>
                      <a:pt x="2738438" y="194451"/>
                    </a:cubicBezTo>
                    <a:lnTo>
                      <a:pt x="2738438" y="1296803"/>
                    </a:lnTo>
                    <a:cubicBezTo>
                      <a:pt x="2738438" y="1404237"/>
                      <a:pt x="2662911" y="1491254"/>
                      <a:pt x="2569868" y="1491254"/>
                    </a:cubicBezTo>
                    <a:lnTo>
                      <a:pt x="168569" y="1491254"/>
                    </a:lnTo>
                    <a:cubicBezTo>
                      <a:pt x="75527" y="1491254"/>
                      <a:pt x="0" y="1404131"/>
                      <a:pt x="0" y="12968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E9C9A7"/>
                </a:solidFill>
                <a:prstDash val="solid"/>
                <a:miter/>
              </a:ln>
            </p:spPr>
            <p:txBody>
              <a:bodyPr/>
              <a:p/>
            </p:txBody>
          </p:sp>
        </p:grpSp>
        <p:grpSp>
          <p:nvGrpSpPr>
            <p:cNvPr name="Group 161" id="161"/>
            <p:cNvGrpSpPr/>
            <p:nvPr/>
          </p:nvGrpSpPr>
          <p:grpSpPr>
            <a:xfrm rot="0">
              <a:off x="142875" y="82132"/>
              <a:ext cx="3124200" cy="622139"/>
              <a:chOff x="0" y="0"/>
              <a:chExt cx="3124200" cy="622139"/>
            </a:xfrm>
          </p:grpSpPr>
          <p:sp>
            <p:nvSpPr>
              <p:cNvPr name="Freeform 162" id="162"/>
              <p:cNvSpPr/>
              <p:nvPr/>
            </p:nvSpPr>
            <p:spPr>
              <a:xfrm flipH="false" flipV="false" rot="0">
                <a:off x="0" y="0"/>
                <a:ext cx="3124200" cy="622139"/>
              </a:xfrm>
              <a:custGeom>
                <a:avLst/>
                <a:gdLst/>
                <a:ahLst/>
                <a:cxnLst/>
                <a:rect r="r" b="b" t="t" l="l"/>
                <a:pathLst>
                  <a:path h="622139" w="3124200">
                    <a:moveTo>
                      <a:pt x="0" y="0"/>
                    </a:moveTo>
                    <a:lnTo>
                      <a:pt x="3124200" y="0"/>
                    </a:lnTo>
                    <a:lnTo>
                      <a:pt x="3124200" y="622139"/>
                    </a:lnTo>
                    <a:lnTo>
                      <a:pt x="0" y="62213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1103" r="0" b="-34592"/>
                </a:stretch>
              </a:blipFill>
            </p:spPr>
            <p:txBody>
              <a:bodyPr/>
              <a:p/>
            </p:txBody>
          </p:sp>
          <p:sp>
            <p:nvSpPr>
              <p:cNvPr name="TextBox 163" id="163"/>
              <p:cNvSpPr txBox="true"/>
              <p:nvPr/>
            </p:nvSpPr>
            <p:spPr>
              <a:xfrm>
                <a:off x="0" y="0"/>
                <a:ext cx="3124200" cy="62213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25"/>
                  </a:lnSpc>
                </a:pPr>
                <a:r>
                  <a:rPr lang="en-US" sz="1687" spc="6">
                    <a:solidFill>
                      <a:srgbClr val="F26A21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① 수집</a:t>
                </a:r>
              </a:p>
            </p:txBody>
          </p:sp>
        </p:grpSp>
        <p:grpSp>
          <p:nvGrpSpPr>
            <p:cNvPr name="Group 164" id="164"/>
            <p:cNvGrpSpPr/>
            <p:nvPr/>
          </p:nvGrpSpPr>
          <p:grpSpPr>
            <a:xfrm rot="0">
              <a:off x="314325" y="660107"/>
              <a:ext cx="3124200" cy="1036270"/>
              <a:chOff x="0" y="0"/>
              <a:chExt cx="3124200" cy="1036270"/>
            </a:xfrm>
          </p:grpSpPr>
          <p:sp>
            <p:nvSpPr>
              <p:cNvPr name="Freeform 165" id="165"/>
              <p:cNvSpPr/>
              <p:nvPr/>
            </p:nvSpPr>
            <p:spPr>
              <a:xfrm flipH="false" flipV="false" rot="0">
                <a:off x="0" y="0"/>
                <a:ext cx="3124200" cy="1036270"/>
              </a:xfrm>
              <a:custGeom>
                <a:avLst/>
                <a:gdLst/>
                <a:ahLst/>
                <a:cxnLst/>
                <a:rect r="r" b="b" t="t" l="l"/>
                <a:pathLst>
                  <a:path h="1036270" w="3124200">
                    <a:moveTo>
                      <a:pt x="0" y="0"/>
                    </a:moveTo>
                    <a:lnTo>
                      <a:pt x="3124200" y="0"/>
                    </a:lnTo>
                    <a:lnTo>
                      <a:pt x="3124200" y="1036270"/>
                    </a:lnTo>
                    <a:lnTo>
                      <a:pt x="0" y="103627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4846" r="0" b="17357"/>
                </a:stretch>
              </a:blipFill>
            </p:spPr>
            <p:txBody>
              <a:bodyPr/>
              <a:p/>
            </p:txBody>
          </p:sp>
          <p:sp>
            <p:nvSpPr>
              <p:cNvPr name="TextBox 166" id="166"/>
              <p:cNvSpPr txBox="true"/>
              <p:nvPr/>
            </p:nvSpPr>
            <p:spPr>
              <a:xfrm>
                <a:off x="0" y="-9525"/>
                <a:ext cx="3124200" cy="1045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559"/>
                  </a:lnSpc>
                </a:pPr>
              </a:p>
            </p:txBody>
          </p:sp>
        </p:grpSp>
        <p:grpSp>
          <p:nvGrpSpPr>
            <p:cNvPr name="Group 167" id="167"/>
            <p:cNvGrpSpPr/>
            <p:nvPr/>
          </p:nvGrpSpPr>
          <p:grpSpPr>
            <a:xfrm rot="0">
              <a:off x="147637" y="534786"/>
              <a:ext cx="3124200" cy="1530623"/>
              <a:chOff x="0" y="0"/>
              <a:chExt cx="3124200" cy="1530623"/>
            </a:xfrm>
          </p:grpSpPr>
          <p:sp>
            <p:nvSpPr>
              <p:cNvPr name="Freeform 168" id="168"/>
              <p:cNvSpPr/>
              <p:nvPr/>
            </p:nvSpPr>
            <p:spPr>
              <a:xfrm flipH="false" flipV="false" rot="0">
                <a:off x="0" y="0"/>
                <a:ext cx="3124200" cy="1530623"/>
              </a:xfrm>
              <a:custGeom>
                <a:avLst/>
                <a:gdLst/>
                <a:ahLst/>
                <a:cxnLst/>
                <a:rect r="r" b="b" t="t" l="l"/>
                <a:pathLst>
                  <a:path h="1530623" w="3124200">
                    <a:moveTo>
                      <a:pt x="0" y="0"/>
                    </a:moveTo>
                    <a:lnTo>
                      <a:pt x="3124200" y="0"/>
                    </a:lnTo>
                    <a:lnTo>
                      <a:pt x="3124200" y="1530623"/>
                    </a:lnTo>
                    <a:lnTo>
                      <a:pt x="0" y="153062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3591" r="0" b="44048"/>
                </a:stretch>
              </a:blipFill>
            </p:spPr>
            <p:txBody>
              <a:bodyPr/>
              <a:p/>
            </p:txBody>
          </p:sp>
          <p:sp>
            <p:nvSpPr>
              <p:cNvPr name="TextBox 169" id="169"/>
              <p:cNvSpPr txBox="true"/>
              <p:nvPr/>
            </p:nvSpPr>
            <p:spPr>
              <a:xfrm>
                <a:off x="0" y="0"/>
                <a:ext cx="3124200" cy="153062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650"/>
                  </a:lnSpc>
                </a:pPr>
                <a:r>
                  <a:rPr lang="en-US" sz="1375" spc="4">
                    <a:solidFill>
                      <a:srgbClr val="6B4632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사진 촬영 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en-US" sz="1375" spc="4">
                    <a:solidFill>
                      <a:srgbClr val="6B4632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출처·촬영일 입력  </a:t>
                </a:r>
              </a:p>
              <a:p>
                <a:pPr algn="l">
                  <a:lnSpc>
                    <a:spcPts val="1650"/>
                  </a:lnSpc>
                </a:pPr>
              </a:p>
              <a:p>
                <a:pPr algn="l">
                  <a:lnSpc>
                    <a:spcPts val="1650"/>
                  </a:lnSpc>
                </a:pPr>
              </a:p>
            </p:txBody>
          </p:sp>
        </p:grpSp>
      </p:grpSp>
      <p:grpSp>
        <p:nvGrpSpPr>
          <p:cNvPr name="Group 170" id="170"/>
          <p:cNvGrpSpPr/>
          <p:nvPr/>
        </p:nvGrpSpPr>
        <p:grpSpPr>
          <a:xfrm rot="0">
            <a:off x="7804547" y="4469121"/>
            <a:ext cx="342900" cy="627347"/>
            <a:chOff x="0" y="0"/>
            <a:chExt cx="457200" cy="836463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57200" cy="836463"/>
            </a:xfrm>
            <a:custGeom>
              <a:avLst/>
              <a:gdLst/>
              <a:ahLst/>
              <a:cxnLst/>
              <a:rect r="r" b="b" t="t" l="l"/>
              <a:pathLst>
                <a:path h="836463" w="457200">
                  <a:moveTo>
                    <a:pt x="0" y="0"/>
                  </a:moveTo>
                  <a:lnTo>
                    <a:pt x="228600" y="0"/>
                  </a:lnTo>
                  <a:lnTo>
                    <a:pt x="457200" y="418231"/>
                  </a:lnTo>
                  <a:lnTo>
                    <a:pt x="228600" y="836463"/>
                  </a:lnTo>
                  <a:lnTo>
                    <a:pt x="0" y="836463"/>
                  </a:lnTo>
                  <a:lnTo>
                    <a:pt x="228600" y="418231"/>
                  </a:lnTo>
                  <a:close/>
                </a:path>
              </a:pathLst>
            </a:custGeom>
            <a:solidFill>
              <a:srgbClr val="D99A4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AutoShape 172" id="172"/>
          <p:cNvSpPr/>
          <p:nvPr/>
        </p:nvSpPr>
        <p:spPr>
          <a:xfrm>
            <a:off x="7008205" y="3296510"/>
            <a:ext cx="485589" cy="4703"/>
          </a:xfrm>
          <a:prstGeom prst="line">
            <a:avLst/>
          </a:prstGeom>
          <a:ln cap="flat" w="38100">
            <a:solidFill>
              <a:srgbClr val="F26A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3" id="173"/>
          <p:cNvSpPr/>
          <p:nvPr/>
        </p:nvSpPr>
        <p:spPr>
          <a:xfrm flipV="true">
            <a:off x="7022493" y="6181400"/>
            <a:ext cx="457014" cy="3964"/>
          </a:xfrm>
          <a:prstGeom prst="line">
            <a:avLst/>
          </a:prstGeom>
          <a:ln cap="flat" w="38100">
            <a:solidFill>
              <a:srgbClr val="F26A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4" id="174"/>
          <p:cNvSpPr/>
          <p:nvPr/>
        </p:nvSpPr>
        <p:spPr>
          <a:xfrm>
            <a:off x="6972486" y="4771493"/>
            <a:ext cx="507020" cy="7875"/>
          </a:xfrm>
          <a:prstGeom prst="line">
            <a:avLst/>
          </a:prstGeom>
          <a:ln cap="flat" w="38100">
            <a:solidFill>
              <a:srgbClr val="F26A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5" id="175"/>
          <p:cNvSpPr/>
          <p:nvPr/>
        </p:nvSpPr>
        <p:spPr>
          <a:xfrm>
            <a:off x="7498556" y="3285456"/>
            <a:ext cx="0" cy="2935546"/>
          </a:xfrm>
          <a:prstGeom prst="line">
            <a:avLst/>
          </a:prstGeom>
          <a:ln cap="flat" w="38100">
            <a:solidFill>
              <a:srgbClr val="F26A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6" id="176"/>
          <p:cNvSpPr/>
          <p:nvPr/>
        </p:nvSpPr>
        <p:spPr>
          <a:xfrm flipV="true">
            <a:off x="7498762" y="4779368"/>
            <a:ext cx="477235" cy="308"/>
          </a:xfrm>
          <a:prstGeom prst="line">
            <a:avLst/>
          </a:prstGeom>
          <a:ln cap="flat" w="38100">
            <a:solidFill>
              <a:srgbClr val="F26A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77" id="177"/>
          <p:cNvGrpSpPr/>
          <p:nvPr/>
        </p:nvGrpSpPr>
        <p:grpSpPr>
          <a:xfrm rot="0">
            <a:off x="4157662" y="2813100"/>
            <a:ext cx="2850356" cy="1063005"/>
            <a:chOff x="0" y="0"/>
            <a:chExt cx="3800475" cy="141734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800475" cy="1417340"/>
            </a:xfrm>
            <a:custGeom>
              <a:avLst/>
              <a:gdLst/>
              <a:ahLst/>
              <a:cxnLst/>
              <a:rect r="r" b="b" t="t" l="l"/>
              <a:pathLst>
                <a:path h="1417340" w="3800475">
                  <a:moveTo>
                    <a:pt x="0" y="283468"/>
                  </a:moveTo>
                  <a:cubicBezTo>
                    <a:pt x="0" y="126864"/>
                    <a:pt x="96514" y="0"/>
                    <a:pt x="215655" y="0"/>
                  </a:cubicBezTo>
                  <a:lnTo>
                    <a:pt x="3584820" y="0"/>
                  </a:lnTo>
                  <a:cubicBezTo>
                    <a:pt x="3703961" y="0"/>
                    <a:pt x="3800475" y="126864"/>
                    <a:pt x="3800475" y="283468"/>
                  </a:cubicBezTo>
                  <a:lnTo>
                    <a:pt x="3800475" y="1133872"/>
                  </a:lnTo>
                  <a:cubicBezTo>
                    <a:pt x="3800475" y="1290476"/>
                    <a:pt x="3703961" y="1417340"/>
                    <a:pt x="3584820" y="1417340"/>
                  </a:cubicBezTo>
                  <a:lnTo>
                    <a:pt x="215655" y="1417340"/>
                  </a:lnTo>
                  <a:cubicBezTo>
                    <a:pt x="96514" y="1417340"/>
                    <a:pt x="0" y="1290476"/>
                    <a:pt x="0" y="113387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4343386" y="2908072"/>
            <a:ext cx="2556286" cy="884678"/>
            <a:chOff x="0" y="0"/>
            <a:chExt cx="3408381" cy="1179571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408381" cy="1179571"/>
            </a:xfrm>
            <a:custGeom>
              <a:avLst/>
              <a:gdLst/>
              <a:ahLst/>
              <a:cxnLst/>
              <a:rect r="r" b="b" t="t" l="l"/>
              <a:pathLst>
                <a:path h="1179571" w="3408381">
                  <a:moveTo>
                    <a:pt x="0" y="0"/>
                  </a:moveTo>
                  <a:lnTo>
                    <a:pt x="3408381" y="0"/>
                  </a:lnTo>
                  <a:lnTo>
                    <a:pt x="3408381" y="1179571"/>
                  </a:lnTo>
                  <a:lnTo>
                    <a:pt x="0" y="11795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33" r="512" b="24606"/>
              </a:stretch>
            </a:blipFill>
          </p:spPr>
          <p:txBody>
            <a:bodyPr/>
            <a:p/>
          </p:txBody>
        </p:sp>
        <p:sp>
          <p:nvSpPr>
            <p:cNvPr name="TextBox 181" id="181"/>
            <p:cNvSpPr txBox="true"/>
            <p:nvPr/>
          </p:nvSpPr>
          <p:spPr>
            <a:xfrm>
              <a:off x="0" y="0"/>
              <a:ext cx="3408381" cy="117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spc="5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1700" spc="5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Document Parse 이용,</a:t>
              </a:r>
            </a:p>
            <a:p>
              <a:pPr algn="l">
                <a:lnSpc>
                  <a:spcPts val="2040"/>
                </a:lnSpc>
              </a:pPr>
              <a:r>
                <a:rPr lang="en-US" sz="1700" spc="6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1700" spc="6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스프레드 시트 데이터 저장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0025"/>
            <a:chOff x="0" y="0"/>
            <a:chExt cx="24384000" cy="2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6700"/>
            </a:xfrm>
            <a:custGeom>
              <a:avLst/>
              <a:gdLst/>
              <a:ahLst/>
              <a:cxnLst/>
              <a:rect r="r" b="b" t="t" l="l"/>
              <a:pathLst>
                <a:path h="26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685800" y="485775"/>
            <a:ext cx="4714875" cy="466604"/>
            <a:chOff x="0" y="0"/>
            <a:chExt cx="6286500" cy="622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86500" cy="622139"/>
            </a:xfrm>
            <a:custGeom>
              <a:avLst/>
              <a:gdLst/>
              <a:ahLst/>
              <a:cxnLst/>
              <a:rect r="r" b="b" t="t" l="l"/>
              <a:pathLst>
                <a:path h="622139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622139"/>
                  </a:lnTo>
                  <a:lnTo>
                    <a:pt x="0" y="6221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083" r="0" b="-13669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286500" cy="622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05 · 데이터 구조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550"/>
            <a:ext cx="16573500" cy="1055732"/>
            <a:chOff x="0" y="0"/>
            <a:chExt cx="22098000" cy="14076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407642"/>
            </a:xfrm>
            <a:custGeom>
              <a:avLst/>
              <a:gdLst/>
              <a:ahLst/>
              <a:cxnLst/>
              <a:rect r="r" b="b" t="t" l="l"/>
              <a:pathLst>
                <a:path h="1407642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407642"/>
                  </a:lnTo>
                  <a:lnTo>
                    <a:pt x="0" y="14076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347" r="0" b="-242427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098000" cy="1407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spc="14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데이터 구조: 구글 스프레드시트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00700" y="4714875"/>
            <a:ext cx="1371600" cy="57150"/>
            <a:chOff x="0" y="0"/>
            <a:chExt cx="18288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762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17640" r="0" b="-417640"/>
              </a:stretch>
            </a:blipFill>
            <a:ln w="57150" cap="sq">
              <a:solidFill>
                <a:srgbClr val="F26A21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29450" y="2743200"/>
            <a:ext cx="4743450" cy="5072817"/>
            <a:chOff x="0" y="0"/>
            <a:chExt cx="6324600" cy="67637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24600" cy="6763756"/>
            </a:xfrm>
            <a:custGeom>
              <a:avLst/>
              <a:gdLst/>
              <a:ahLst/>
              <a:cxnLst/>
              <a:rect r="r" b="b" t="t" l="l"/>
              <a:pathLst>
                <a:path h="6763756" w="6324600">
                  <a:moveTo>
                    <a:pt x="0" y="248967"/>
                  </a:moveTo>
                  <a:cubicBezTo>
                    <a:pt x="0" y="111492"/>
                    <a:pt x="102997" y="0"/>
                    <a:pt x="229997" y="0"/>
                  </a:cubicBezTo>
                  <a:lnTo>
                    <a:pt x="6094603" y="0"/>
                  </a:lnTo>
                  <a:cubicBezTo>
                    <a:pt x="6221603" y="0"/>
                    <a:pt x="6324600" y="111492"/>
                    <a:pt x="6324600" y="248967"/>
                  </a:cubicBezTo>
                  <a:lnTo>
                    <a:pt x="6324600" y="6514789"/>
                  </a:lnTo>
                  <a:cubicBezTo>
                    <a:pt x="6324600" y="6652264"/>
                    <a:pt x="6221603" y="6763756"/>
                    <a:pt x="6094603" y="6763756"/>
                  </a:cubicBezTo>
                  <a:lnTo>
                    <a:pt x="229997" y="6763756"/>
                  </a:lnTo>
                  <a:cubicBezTo>
                    <a:pt x="102997" y="6763755"/>
                    <a:pt x="0" y="6652264"/>
                    <a:pt x="0" y="6514789"/>
                  </a:cubicBezTo>
                  <a:close/>
                </a:path>
              </a:pathLst>
            </a:custGeom>
            <a:solidFill>
              <a:srgbClr val="FFF6E8"/>
            </a:solidFill>
            <a:ln w="28575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58062" y="2994889"/>
            <a:ext cx="3571875" cy="711650"/>
            <a:chOff x="0" y="0"/>
            <a:chExt cx="4762500" cy="9488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62500" cy="948867"/>
            </a:xfrm>
            <a:custGeom>
              <a:avLst/>
              <a:gdLst/>
              <a:ahLst/>
              <a:cxnLst/>
              <a:rect r="r" b="b" t="t" l="l"/>
              <a:pathLst>
                <a:path h="948867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948867"/>
                  </a:lnTo>
                  <a:lnTo>
                    <a:pt x="0" y="9488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683" r="0" b="-27913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762500" cy="958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8641" indent="-279321" lvl="1">
                <a:lnSpc>
                  <a:spcPts val="3104"/>
                </a:lnSpc>
                <a:buAutoNum type="arabicPeriod" startAt="1"/>
              </a:pPr>
              <a:r>
                <a:rPr lang="en-US" sz="2587" spc="10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메뉴 시트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58100" y="3797220"/>
            <a:ext cx="1428750" cy="433592"/>
            <a:chOff x="0" y="0"/>
            <a:chExt cx="1905000" cy="5781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00" cy="578123"/>
            </a:xfrm>
            <a:custGeom>
              <a:avLst/>
              <a:gdLst/>
              <a:ahLst/>
              <a:cxnLst/>
              <a:rect r="r" b="b" t="t" l="l"/>
              <a:pathLst>
                <a:path h="578123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78123"/>
                  </a:lnTo>
                  <a:lnTo>
                    <a:pt x="0" y="5781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59" r="0" b="-452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05000" cy="578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기본 정보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58100" y="4171950"/>
            <a:ext cx="3714750" cy="428625"/>
            <a:chOff x="0" y="0"/>
            <a:chExt cx="4953000" cy="571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5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953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식당ID · 식당이름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58100" y="4886325"/>
            <a:ext cx="1428750" cy="314325"/>
            <a:chOff x="0" y="0"/>
            <a:chExt cx="1905000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68" r="0" b="-38568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905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메뉴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58100" y="5286375"/>
            <a:ext cx="3714750" cy="490091"/>
            <a:chOff x="0" y="0"/>
            <a:chExt cx="4953000" cy="6534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53000" cy="653455"/>
            </a:xfrm>
            <a:custGeom>
              <a:avLst/>
              <a:gdLst/>
              <a:ahLst/>
              <a:cxnLst/>
              <a:rect r="r" b="b" t="t" l="l"/>
              <a:pathLst>
                <a:path h="653455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653455"/>
                  </a:lnTo>
                  <a:lnTo>
                    <a:pt x="0" y="6534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61" r="0" b="-91420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953000" cy="65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메뉴명 · 가격(원)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58100" y="6000750"/>
            <a:ext cx="1714500" cy="455528"/>
            <a:chOff x="0" y="0"/>
            <a:chExt cx="2286000" cy="6073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6000" cy="607370"/>
            </a:xfrm>
            <a:custGeom>
              <a:avLst/>
              <a:gdLst/>
              <a:ahLst/>
              <a:cxnLst/>
              <a:rect r="r" b="b" t="t" l="l"/>
              <a:pathLst>
                <a:path h="60737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07370"/>
                  </a:lnTo>
                  <a:lnTo>
                    <a:pt x="0" y="6073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35" r="0" b="-7838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2286000" cy="597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노출 판단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58100" y="6400800"/>
            <a:ext cx="3714750" cy="578051"/>
            <a:chOff x="0" y="0"/>
            <a:chExt cx="4953000" cy="7707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53000" cy="770734"/>
            </a:xfrm>
            <a:custGeom>
              <a:avLst/>
              <a:gdLst/>
              <a:ahLst/>
              <a:cxnLst/>
              <a:rect r="r" b="b" t="t" l="l"/>
              <a:pathLst>
                <a:path h="770734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770734"/>
                  </a:lnTo>
                  <a:lnTo>
                    <a:pt x="0" y="770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199" r="0" b="-67235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953000" cy="77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124" spc="8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출처 · 검수 · 비고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695950" y="3743325"/>
            <a:ext cx="1343025" cy="1028700"/>
            <a:chOff x="0" y="0"/>
            <a:chExt cx="179070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907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275" t="0" r="-48275" b="0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79070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식당ID로 연결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58700" y="2743200"/>
            <a:ext cx="4973423" cy="5072817"/>
            <a:chOff x="0" y="0"/>
            <a:chExt cx="6631231" cy="67637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31231" cy="6763756"/>
            </a:xfrm>
            <a:custGeom>
              <a:avLst/>
              <a:gdLst/>
              <a:ahLst/>
              <a:cxnLst/>
              <a:rect r="r" b="b" t="t" l="l"/>
              <a:pathLst>
                <a:path h="6763756" w="6631231">
                  <a:moveTo>
                    <a:pt x="0" y="248967"/>
                  </a:moveTo>
                  <a:cubicBezTo>
                    <a:pt x="0" y="111492"/>
                    <a:pt x="107991" y="0"/>
                    <a:pt x="241148" y="0"/>
                  </a:cubicBezTo>
                  <a:lnTo>
                    <a:pt x="6390084" y="0"/>
                  </a:lnTo>
                  <a:cubicBezTo>
                    <a:pt x="6523241" y="0"/>
                    <a:pt x="6631231" y="111492"/>
                    <a:pt x="6631231" y="248967"/>
                  </a:cubicBezTo>
                  <a:lnTo>
                    <a:pt x="6631231" y="6514789"/>
                  </a:lnTo>
                  <a:cubicBezTo>
                    <a:pt x="6631231" y="6652264"/>
                    <a:pt x="6523241" y="6763756"/>
                    <a:pt x="6390084" y="6763756"/>
                  </a:cubicBezTo>
                  <a:lnTo>
                    <a:pt x="241148" y="6763756"/>
                  </a:lnTo>
                  <a:cubicBezTo>
                    <a:pt x="107991" y="6763755"/>
                    <a:pt x="0" y="6652264"/>
                    <a:pt x="0" y="6514789"/>
                  </a:cubicBezTo>
                  <a:close/>
                </a:path>
              </a:pathLst>
            </a:custGeom>
            <a:solidFill>
              <a:srgbClr val="FFF6E8"/>
            </a:solidFill>
            <a:ln w="28575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760090" y="3015253"/>
            <a:ext cx="3571875" cy="711650"/>
            <a:chOff x="0" y="0"/>
            <a:chExt cx="4762500" cy="94886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62500" cy="948867"/>
            </a:xfrm>
            <a:custGeom>
              <a:avLst/>
              <a:gdLst/>
              <a:ahLst/>
              <a:cxnLst/>
              <a:rect r="r" b="b" t="t" l="l"/>
              <a:pathLst>
                <a:path h="948867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948867"/>
                  </a:lnTo>
                  <a:lnTo>
                    <a:pt x="0" y="9488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683" r="0" b="-27913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762500" cy="958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8641" indent="-279321" lvl="1">
                <a:lnSpc>
                  <a:spcPts val="3104"/>
                </a:lnSpc>
                <a:buAutoNum type="arabicPeriod" startAt="1"/>
              </a:pPr>
              <a:r>
                <a:rPr lang="en-US" sz="2587" spc="10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학식</a:t>
              </a:r>
              <a:r>
                <a:rPr lang="en-US" sz="2587" spc="10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 시트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17215" y="8101767"/>
            <a:ext cx="7429500" cy="808853"/>
            <a:chOff x="0" y="0"/>
            <a:chExt cx="9906000" cy="10784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906000" cy="1078471"/>
            </a:xfrm>
            <a:custGeom>
              <a:avLst/>
              <a:gdLst/>
              <a:ahLst/>
              <a:cxnLst/>
              <a:rect r="r" b="b" t="t" l="l"/>
              <a:pathLst>
                <a:path h="1078471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078471"/>
                  </a:lnTo>
                  <a:lnTo>
                    <a:pt x="0" y="10784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245" r="0" b="-103703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9906000" cy="1068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954287" y="3954382"/>
            <a:ext cx="1428750" cy="433592"/>
            <a:chOff x="0" y="0"/>
            <a:chExt cx="1905000" cy="5781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05000" cy="578123"/>
            </a:xfrm>
            <a:custGeom>
              <a:avLst/>
              <a:gdLst/>
              <a:ahLst/>
              <a:cxnLst/>
              <a:rect r="r" b="b" t="t" l="l"/>
              <a:pathLst>
                <a:path h="578123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78123"/>
                  </a:lnTo>
                  <a:lnTo>
                    <a:pt x="0" y="5781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59" r="0" b="-452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905000" cy="578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기본 정보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954287" y="4410521"/>
            <a:ext cx="3714750" cy="490091"/>
            <a:chOff x="0" y="0"/>
            <a:chExt cx="4953000" cy="6534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53000" cy="653455"/>
            </a:xfrm>
            <a:custGeom>
              <a:avLst/>
              <a:gdLst/>
              <a:ahLst/>
              <a:cxnLst/>
              <a:rect r="r" b="b" t="t" l="l"/>
              <a:pathLst>
                <a:path h="653455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653455"/>
                  </a:lnTo>
                  <a:lnTo>
                    <a:pt x="0" y="6534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61" r="0" b="-91420"/>
              </a:stretch>
            </a:blipFill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953000" cy="65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날짜 </a:t>
              </a:r>
              <a:r>
                <a:rPr lang="en-US" sz="1800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· 식당이름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954287" y="5000625"/>
            <a:ext cx="1428750" cy="452438"/>
            <a:chOff x="0" y="0"/>
            <a:chExt cx="1905000" cy="6032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05000" cy="603250"/>
            </a:xfrm>
            <a:custGeom>
              <a:avLst/>
              <a:gdLst/>
              <a:ahLst/>
              <a:cxnLst/>
              <a:rect r="r" b="b" t="t" l="l"/>
              <a:pathLst>
                <a:path h="60325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603250"/>
                  </a:lnTo>
                  <a:lnTo>
                    <a:pt x="0" y="603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4" r="0" b="3731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905000" cy="603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메뉴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954287" y="5472112"/>
            <a:ext cx="3714750" cy="490091"/>
            <a:chOff x="0" y="0"/>
            <a:chExt cx="4953000" cy="65345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53000" cy="653455"/>
            </a:xfrm>
            <a:custGeom>
              <a:avLst/>
              <a:gdLst/>
              <a:ahLst/>
              <a:cxnLst/>
              <a:rect r="r" b="b" t="t" l="l"/>
              <a:pathLst>
                <a:path h="653455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653455"/>
                  </a:lnTo>
                  <a:lnTo>
                    <a:pt x="0" y="6534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61" r="0" b="-91420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953000" cy="653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메뉴명 · 가격(원)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029450" y="8101767"/>
            <a:ext cx="4996120" cy="556115"/>
            <a:chOff x="0" y="0"/>
            <a:chExt cx="6661493" cy="74148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661493" cy="741487"/>
            </a:xfrm>
            <a:custGeom>
              <a:avLst/>
              <a:gdLst/>
              <a:ahLst/>
              <a:cxnLst/>
              <a:rect r="r" b="b" t="t" l="l"/>
              <a:pathLst>
                <a:path h="741487" w="6661493">
                  <a:moveTo>
                    <a:pt x="0" y="0"/>
                  </a:moveTo>
                  <a:lnTo>
                    <a:pt x="6661493" y="0"/>
                  </a:lnTo>
                  <a:lnTo>
                    <a:pt x="6661493" y="741487"/>
                  </a:lnTo>
                  <a:lnTo>
                    <a:pt x="0" y="741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480" r="25647" b="-73832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6661493" cy="74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※ 비고: 사이드 메뉴 판별 및 기타 정보 기입 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76300" y="2864267"/>
            <a:ext cx="4743450" cy="5072817"/>
            <a:chOff x="0" y="0"/>
            <a:chExt cx="6324600" cy="676375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324600" cy="6763756"/>
            </a:xfrm>
            <a:custGeom>
              <a:avLst/>
              <a:gdLst/>
              <a:ahLst/>
              <a:cxnLst/>
              <a:rect r="r" b="b" t="t" l="l"/>
              <a:pathLst>
                <a:path h="6763756" w="6324600">
                  <a:moveTo>
                    <a:pt x="0" y="248967"/>
                  </a:moveTo>
                  <a:cubicBezTo>
                    <a:pt x="0" y="111492"/>
                    <a:pt x="102997" y="0"/>
                    <a:pt x="229997" y="0"/>
                  </a:cubicBezTo>
                  <a:lnTo>
                    <a:pt x="6094603" y="0"/>
                  </a:lnTo>
                  <a:cubicBezTo>
                    <a:pt x="6221603" y="0"/>
                    <a:pt x="6324600" y="111492"/>
                    <a:pt x="6324600" y="248967"/>
                  </a:cubicBezTo>
                  <a:lnTo>
                    <a:pt x="6324600" y="6514789"/>
                  </a:lnTo>
                  <a:cubicBezTo>
                    <a:pt x="6324600" y="6652264"/>
                    <a:pt x="6221603" y="6763756"/>
                    <a:pt x="6094603" y="6763756"/>
                  </a:cubicBezTo>
                  <a:lnTo>
                    <a:pt x="229997" y="6763756"/>
                  </a:lnTo>
                  <a:cubicBezTo>
                    <a:pt x="102997" y="6763755"/>
                    <a:pt x="0" y="6652264"/>
                    <a:pt x="0" y="6514789"/>
                  </a:cubicBezTo>
                  <a:close/>
                </a:path>
              </a:pathLst>
            </a:custGeom>
            <a:solidFill>
              <a:srgbClr val="FFF6E8"/>
            </a:solidFill>
            <a:ln w="28575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14438" y="2974525"/>
            <a:ext cx="3571875" cy="752379"/>
            <a:chOff x="0" y="0"/>
            <a:chExt cx="4762500" cy="100317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62500" cy="1003171"/>
            </a:xfrm>
            <a:custGeom>
              <a:avLst/>
              <a:gdLst/>
              <a:ahLst/>
              <a:cxnLst/>
              <a:rect r="r" b="b" t="t" l="l"/>
              <a:pathLst>
                <a:path h="1003171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1003171"/>
                  </a:lnTo>
                  <a:lnTo>
                    <a:pt x="0" y="10031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19" r="0" b="-20988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4762500" cy="10126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8641" indent="-279321" lvl="1">
                <a:lnSpc>
                  <a:spcPts val="3104"/>
                </a:lnSpc>
                <a:buAutoNum type="arabicPeriod" startAt="1"/>
              </a:pPr>
              <a:r>
                <a:rPr lang="en-US" sz="2587" spc="10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587" spc="10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식당 시트 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85875" y="3771900"/>
            <a:ext cx="1714500" cy="314325"/>
            <a:chOff x="0" y="0"/>
            <a:chExt cx="2286000" cy="419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86000" cy="419100"/>
            </a:xfrm>
            <a:custGeom>
              <a:avLst/>
              <a:gdLst/>
              <a:ahLst/>
              <a:cxnLst/>
              <a:rect r="r" b="b" t="t" l="l"/>
              <a:pathLst>
                <a:path h="4191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286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기본 정보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85875" y="4171950"/>
            <a:ext cx="3714750" cy="600075"/>
            <a:chOff x="0" y="0"/>
            <a:chExt cx="4953000" cy="8001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53000" cy="800100"/>
            </a:xfrm>
            <a:custGeom>
              <a:avLst/>
              <a:gdLst/>
              <a:ahLst/>
              <a:cxnLst/>
              <a:rect r="r" b="b" t="t" l="l"/>
              <a:pathLst>
                <a:path h="8001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  <p:txBody>
            <a:bodyPr/>
            <a:p/>
          </p:txBody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49530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식당ID · 식당이름 · 카테고리 · 주소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85875" y="5000625"/>
            <a:ext cx="1714500" cy="314325"/>
            <a:chOff x="0" y="0"/>
            <a:chExt cx="2286000" cy="4191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86000" cy="419100"/>
            </a:xfrm>
            <a:custGeom>
              <a:avLst/>
              <a:gdLst/>
              <a:ahLst/>
              <a:cxnLst/>
              <a:rect r="r" b="b" t="t" l="l"/>
              <a:pathLst>
                <a:path h="4191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286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위치·검색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85875" y="5400675"/>
            <a:ext cx="3714750" cy="428625"/>
            <a:chOff x="0" y="0"/>
            <a:chExt cx="4953000" cy="5715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95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4953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위도 · 경도 · 태그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85875" y="6143625"/>
            <a:ext cx="1714500" cy="314325"/>
            <a:chOff x="0" y="0"/>
            <a:chExt cx="2286000" cy="4191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86000" cy="419100"/>
            </a:xfrm>
            <a:custGeom>
              <a:avLst/>
              <a:gdLst/>
              <a:ahLst/>
              <a:cxnLst/>
              <a:rect r="r" b="b" t="t" l="l"/>
              <a:pathLst>
                <a:path h="4191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  <p:txBody>
            <a:bodyPr/>
            <a:p/>
          </p:txBody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2286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책임 정보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85875" y="6543675"/>
            <a:ext cx="3857625" cy="600075"/>
            <a:chOff x="0" y="0"/>
            <a:chExt cx="5143500" cy="8001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43500" cy="800100"/>
            </a:xfrm>
            <a:custGeom>
              <a:avLst/>
              <a:gdLst/>
              <a:ahLst/>
              <a:cxnLst/>
              <a:rect r="r" b="b" t="t" l="l"/>
              <a:pathLst>
                <a:path h="8001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  <p:txBody>
            <a:bodyPr/>
            <a:p/>
          </p:txBody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51435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6">
                  <a:solidFill>
                    <a:srgbClr val="000000"/>
                  </a:solidFill>
                  <a:latin typeface="Mandali"/>
                  <a:ea typeface="Mandali"/>
                  <a:cs typeface="Mandali"/>
                  <a:sym typeface="Mandali"/>
                </a:rPr>
                <a:t>메뉴판 링크 · 수집자 · 촬영일 · 상태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0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2925"/>
            <a:ext cx="11144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06 · UPSTAGE 적용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3925" y="1028700"/>
            <a:ext cx="16002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15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Upstage 적용 4가지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86525" y="1181100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E9C9A7"/>
                </a:solidFill>
                <a:latin typeface="Mandali"/>
                <a:ea typeface="Mandali"/>
                <a:cs typeface="Mandali"/>
                <a:sym typeface="Mandali"/>
              </a:rPr>
              <a:t>데이터 입력 시 2번, 사용자에게 출력 시 2번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121694"/>
            <a:ext cx="7600950" cy="2200275"/>
            <a:chOff x="0" y="0"/>
            <a:chExt cx="10134600" cy="2933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34600" cy="2933700"/>
            </a:xfrm>
            <a:custGeom>
              <a:avLst/>
              <a:gdLst/>
              <a:ahLst/>
              <a:cxnLst/>
              <a:rect r="r" b="b" t="t" l="l"/>
              <a:pathLst>
                <a:path h="2933700" w="10134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906000" y="0"/>
                  </a:lnTo>
                  <a:cubicBezTo>
                    <a:pt x="10032238" y="0"/>
                    <a:pt x="10134600" y="102362"/>
                    <a:pt x="10134600" y="228600"/>
                  </a:cubicBezTo>
                  <a:lnTo>
                    <a:pt x="10134600" y="2705100"/>
                  </a:lnTo>
                  <a:cubicBezTo>
                    <a:pt x="10134600" y="2831338"/>
                    <a:pt x="10032238" y="2933700"/>
                    <a:pt x="9906000" y="2933700"/>
                  </a:cubicBezTo>
                  <a:lnTo>
                    <a:pt x="228600" y="2933700"/>
                  </a:lnTo>
                  <a:cubicBezTo>
                    <a:pt x="102362" y="2933700"/>
                    <a:pt x="0" y="2831338"/>
                    <a:pt x="0" y="27051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1257300" y="2436019"/>
            <a:ext cx="6286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1700" y="2407444"/>
            <a:ext cx="31641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spc="12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Document Parse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71700" y="3045619"/>
            <a:ext cx="5715000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메뉴판 사진에서 메뉴명과 가격을 읽음</a:t>
            </a: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(ocr=force, coordinates=true)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029700" y="2121694"/>
            <a:ext cx="7600950" cy="2200275"/>
            <a:chOff x="0" y="0"/>
            <a:chExt cx="10134600" cy="2933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34600" cy="2933700"/>
            </a:xfrm>
            <a:custGeom>
              <a:avLst/>
              <a:gdLst/>
              <a:ahLst/>
              <a:cxnLst/>
              <a:rect r="r" b="b" t="t" l="l"/>
              <a:pathLst>
                <a:path h="2933700" w="10134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9906000" y="0"/>
                  </a:lnTo>
                  <a:cubicBezTo>
                    <a:pt x="10032238" y="0"/>
                    <a:pt x="10134600" y="102362"/>
                    <a:pt x="10134600" y="228600"/>
                  </a:cubicBezTo>
                  <a:lnTo>
                    <a:pt x="10134600" y="2705100"/>
                  </a:lnTo>
                  <a:cubicBezTo>
                    <a:pt x="10134600" y="2831338"/>
                    <a:pt x="10032238" y="2933700"/>
                    <a:pt x="9906000" y="2933700"/>
                  </a:cubicBezTo>
                  <a:lnTo>
                    <a:pt x="228600" y="2933700"/>
                  </a:lnTo>
                  <a:cubicBezTo>
                    <a:pt x="102362" y="2933700"/>
                    <a:pt x="0" y="2831338"/>
                    <a:pt x="0" y="27051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9372600" y="2436019"/>
            <a:ext cx="6286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0" y="2312194"/>
            <a:ext cx="19492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spc="12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S</a:t>
            </a:r>
            <a:r>
              <a:rPr lang="en-US" sz="3299" spc="12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olar-pro2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91680" y="3045619"/>
            <a:ext cx="6824745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제보 사진에서 가게 이름을 찾음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⟶ 사용자가 가게 이름을 입력하지 않아도 되게 하기 위함. </a:t>
            </a:r>
          </a:p>
          <a:p>
            <a:pPr algn="l">
              <a:lnSpc>
                <a:spcPts val="243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4836319"/>
            <a:ext cx="7600950" cy="2095500"/>
            <a:chOff x="0" y="0"/>
            <a:chExt cx="10134600" cy="279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346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10134600">
                  <a:moveTo>
                    <a:pt x="0" y="217714"/>
                  </a:moveTo>
                  <a:cubicBezTo>
                    <a:pt x="0" y="97488"/>
                    <a:pt x="102362" y="0"/>
                    <a:pt x="228600" y="0"/>
                  </a:cubicBezTo>
                  <a:lnTo>
                    <a:pt x="9906000" y="0"/>
                  </a:lnTo>
                  <a:cubicBezTo>
                    <a:pt x="10032238" y="0"/>
                    <a:pt x="10134600" y="97488"/>
                    <a:pt x="10134600" y="217714"/>
                  </a:cubicBezTo>
                  <a:lnTo>
                    <a:pt x="10134600" y="2576286"/>
                  </a:lnTo>
                  <a:cubicBezTo>
                    <a:pt x="10134600" y="2696512"/>
                    <a:pt x="10032238" y="2794000"/>
                    <a:pt x="9906000" y="2794000"/>
                  </a:cubicBezTo>
                  <a:lnTo>
                    <a:pt x="228600" y="2794000"/>
                  </a:lnTo>
                  <a:cubicBezTo>
                    <a:pt x="102362" y="2794000"/>
                    <a:pt x="0" y="2696512"/>
                    <a:pt x="0" y="2576286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7300" y="5150644"/>
            <a:ext cx="6286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71700" y="5055394"/>
            <a:ext cx="19492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spc="12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S</a:t>
            </a:r>
            <a:r>
              <a:rPr lang="en-US" sz="3299" spc="12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olar-pro2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71700" y="5731669"/>
            <a:ext cx="6301971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예산·도보·태그 추출 + 추천 이유 작성</a:t>
            </a: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(한 번의 왕복, 구조화 출력)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9029700" y="4836319"/>
            <a:ext cx="7600950" cy="2095500"/>
            <a:chOff x="0" y="0"/>
            <a:chExt cx="10134600" cy="279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346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10134600">
                  <a:moveTo>
                    <a:pt x="0" y="217714"/>
                  </a:moveTo>
                  <a:cubicBezTo>
                    <a:pt x="0" y="97488"/>
                    <a:pt x="102362" y="0"/>
                    <a:pt x="228600" y="0"/>
                  </a:cubicBezTo>
                  <a:lnTo>
                    <a:pt x="9906000" y="0"/>
                  </a:lnTo>
                  <a:cubicBezTo>
                    <a:pt x="10032238" y="0"/>
                    <a:pt x="10134600" y="97488"/>
                    <a:pt x="10134600" y="217714"/>
                  </a:cubicBezTo>
                  <a:lnTo>
                    <a:pt x="10134600" y="2576286"/>
                  </a:lnTo>
                  <a:cubicBezTo>
                    <a:pt x="10134600" y="2696512"/>
                    <a:pt x="10032238" y="2794000"/>
                    <a:pt x="9906000" y="2794000"/>
                  </a:cubicBezTo>
                  <a:lnTo>
                    <a:pt x="228600" y="2794000"/>
                  </a:lnTo>
                  <a:cubicBezTo>
                    <a:pt x="102362" y="2794000"/>
                    <a:pt x="0" y="2696512"/>
                    <a:pt x="0" y="2576286"/>
                  </a:cubicBez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9372600" y="5150644"/>
            <a:ext cx="6286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0" y="4998244"/>
            <a:ext cx="189621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spc="12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S</a:t>
            </a:r>
            <a:r>
              <a:rPr lang="en-US" sz="3299" spc="12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olar-mini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02630" y="5674519"/>
            <a:ext cx="695667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Solar-pro2가 쓴 </a:t>
            </a:r>
            <a:r>
              <a:rPr lang="en-US" sz="2224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추천 이유를 데이터와 대조해 채점</a:t>
            </a:r>
          </a:p>
          <a:p>
            <a:pPr algn="l">
              <a:lnSpc>
                <a:spcPts val="2669"/>
              </a:lnSpc>
            </a:pPr>
          </a:p>
          <a:p>
            <a:pPr algn="l">
              <a:lnSpc>
                <a:spcPts val="2669"/>
              </a:lnSpc>
            </a:pPr>
            <a:r>
              <a:rPr lang="en-US" sz="2224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⟶ Solar-pro2가 </a:t>
            </a:r>
            <a:r>
              <a:rPr lang="en-US" sz="2224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스스로 채점하지 않도록 하기 위함.</a:t>
            </a:r>
          </a:p>
          <a:p>
            <a:pPr algn="l">
              <a:lnSpc>
                <a:spcPts val="2669"/>
              </a:lnSpc>
            </a:pPr>
          </a:p>
          <a:p>
            <a:pPr algn="l">
              <a:lnSpc>
                <a:spcPts val="2669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7828252" y="7855744"/>
            <a:ext cx="8743950" cy="1102236"/>
            <a:chOff x="0" y="0"/>
            <a:chExt cx="10419934" cy="13135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19935" cy="1313506"/>
            </a:xfrm>
            <a:custGeom>
              <a:avLst/>
              <a:gdLst/>
              <a:ahLst/>
              <a:cxnLst/>
              <a:rect r="r" b="b" t="t" l="l"/>
              <a:pathLst>
                <a:path h="1313506" w="10419935">
                  <a:moveTo>
                    <a:pt x="0" y="102351"/>
                  </a:moveTo>
                  <a:cubicBezTo>
                    <a:pt x="0" y="45831"/>
                    <a:pt x="105244" y="0"/>
                    <a:pt x="235036" y="0"/>
                  </a:cubicBezTo>
                  <a:lnTo>
                    <a:pt x="10184898" y="0"/>
                  </a:lnTo>
                  <a:cubicBezTo>
                    <a:pt x="10314691" y="0"/>
                    <a:pt x="10419935" y="45831"/>
                    <a:pt x="10419935" y="102351"/>
                  </a:cubicBezTo>
                  <a:lnTo>
                    <a:pt x="10419935" y="1211155"/>
                  </a:lnTo>
                  <a:cubicBezTo>
                    <a:pt x="10419935" y="1267675"/>
                    <a:pt x="10314691" y="1313506"/>
                    <a:pt x="10184898" y="1313506"/>
                  </a:cubicBezTo>
                  <a:lnTo>
                    <a:pt x="235036" y="1313506"/>
                  </a:lnTo>
                  <a:cubicBezTo>
                    <a:pt x="105244" y="1313506"/>
                    <a:pt x="0" y="1267675"/>
                    <a:pt x="0" y="1211155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859250" y="9715500"/>
            <a:ext cx="51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spc="5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06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026966" y="7874794"/>
            <a:ext cx="3588661" cy="1102236"/>
            <a:chOff x="0" y="0"/>
            <a:chExt cx="4276512" cy="13135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76512" cy="1313506"/>
            </a:xfrm>
            <a:custGeom>
              <a:avLst/>
              <a:gdLst/>
              <a:ahLst/>
              <a:cxnLst/>
              <a:rect r="r" b="b" t="t" l="l"/>
              <a:pathLst>
                <a:path h="1313506" w="4276512">
                  <a:moveTo>
                    <a:pt x="0" y="102351"/>
                  </a:moveTo>
                  <a:cubicBezTo>
                    <a:pt x="0" y="45831"/>
                    <a:pt x="43194" y="0"/>
                    <a:pt x="96463" y="0"/>
                  </a:cubicBezTo>
                  <a:lnTo>
                    <a:pt x="4180050" y="0"/>
                  </a:lnTo>
                  <a:cubicBezTo>
                    <a:pt x="4233319" y="0"/>
                    <a:pt x="4276512" y="45831"/>
                    <a:pt x="4276512" y="102351"/>
                  </a:cubicBezTo>
                  <a:lnTo>
                    <a:pt x="4276512" y="1211155"/>
                  </a:lnTo>
                  <a:cubicBezTo>
                    <a:pt x="4276512" y="1267675"/>
                    <a:pt x="4233319" y="1313506"/>
                    <a:pt x="4180050" y="1313506"/>
                  </a:cubicBezTo>
                  <a:lnTo>
                    <a:pt x="96463" y="1313506"/>
                  </a:lnTo>
                  <a:cubicBezTo>
                    <a:pt x="43194" y="1313506"/>
                    <a:pt x="0" y="1267675"/>
                    <a:pt x="0" y="1211155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30" id="30"/>
          <p:cNvSpPr txBox="true"/>
          <p:nvPr/>
        </p:nvSpPr>
        <p:spPr>
          <a:xfrm rot="0">
            <a:off x="-398752" y="7627144"/>
            <a:ext cx="12398953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</a:p>
          <a:p>
            <a:pPr algn="ctr">
              <a:lnSpc>
                <a:spcPts val="2160"/>
              </a:lnSpc>
              <a:spcBef>
                <a:spcPct val="0"/>
              </a:spcBef>
            </a:p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5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입력: 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5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"8천원 이하 10분 거리 이내 혼밥" 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830598" y="7855744"/>
            <a:ext cx="1239895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6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 출력: { "budget": 8000, "walkMax": 10, "tags": ["혼밥"],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6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  "reason": "8천원 이하 예산, 10분 이내 거리, 혼밥 태그 조건 명시됨", "source": "solar" 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7300" y="8221124"/>
            <a:ext cx="229552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  <a:spcBef>
                <a:spcPct val="0"/>
              </a:spcBef>
            </a:pPr>
            <a:r>
              <a:rPr lang="en-US" sz="2475" spc="9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구조화 출력 예시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2528887"/>
            <a:ext cx="985755" cy="9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1"/>
              </a:lnSpc>
            </a:pPr>
          </a:p>
          <a:p>
            <a:pPr algn="ctr">
              <a:lnSpc>
                <a:spcPts val="1831"/>
              </a:lnSpc>
            </a:pPr>
            <a:r>
              <a:rPr lang="en-US" sz="1526" spc="4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데이터 입력</a:t>
            </a:r>
          </a:p>
          <a:p>
            <a:pPr algn="l">
              <a:lnSpc>
                <a:spcPts val="1831"/>
              </a:lnSpc>
            </a:pPr>
          </a:p>
          <a:p>
            <a:pPr algn="l">
              <a:lnSpc>
                <a:spcPts val="1831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2528887"/>
            <a:ext cx="985755" cy="9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1"/>
              </a:lnSpc>
            </a:pPr>
          </a:p>
          <a:p>
            <a:pPr algn="ctr">
              <a:lnSpc>
                <a:spcPts val="1831"/>
              </a:lnSpc>
            </a:pPr>
            <a:r>
              <a:rPr lang="en-US" sz="1526" spc="4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데이터 입력</a:t>
            </a:r>
          </a:p>
          <a:p>
            <a:pPr algn="l">
              <a:lnSpc>
                <a:spcPts val="1831"/>
              </a:lnSpc>
            </a:pPr>
          </a:p>
          <a:p>
            <a:pPr algn="l">
              <a:lnSpc>
                <a:spcPts val="1831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5464827"/>
            <a:ext cx="985755" cy="45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1"/>
              </a:lnSpc>
            </a:pPr>
            <a:r>
              <a:rPr lang="en-US" sz="1526" spc="4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결과 출력</a:t>
            </a:r>
          </a:p>
          <a:p>
            <a:pPr algn="l">
              <a:lnSpc>
                <a:spcPts val="1831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0" y="5511403"/>
            <a:ext cx="985755" cy="45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1"/>
              </a:lnSpc>
            </a:pPr>
            <a:r>
              <a:rPr lang="en-US" sz="1526" spc="4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결과 출력</a:t>
            </a:r>
          </a:p>
          <a:p>
            <a:pPr algn="l">
              <a:lnSpc>
                <a:spcPts val="183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2925"/>
            <a:ext cx="11144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07 · 환각 방지 (차별성)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28700"/>
            <a:ext cx="16002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15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차별성: “</a:t>
            </a:r>
            <a:r>
              <a:rPr lang="en-US" sz="4050" spc="15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모델이 말한 것을 데이터가 네 번 검증한다”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928812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한입지도의 차별성은 근거 없는 말을 내보내지 않는 것!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8675" y="3000375"/>
            <a:ext cx="3857625" cy="5000625"/>
            <a:chOff x="0" y="0"/>
            <a:chExt cx="5143500" cy="6667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43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5143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914900" y="0"/>
                  </a:lnTo>
                  <a:cubicBezTo>
                    <a:pt x="5041138" y="0"/>
                    <a:pt x="5143500" y="102362"/>
                    <a:pt x="5143500" y="228600"/>
                  </a:cubicBezTo>
                  <a:lnTo>
                    <a:pt x="5143500" y="6438900"/>
                  </a:lnTo>
                  <a:cubicBezTo>
                    <a:pt x="5143500" y="6565138"/>
                    <a:pt x="5041138" y="6667500"/>
                    <a:pt x="4914900" y="6667500"/>
                  </a:cubicBezTo>
                  <a:lnTo>
                    <a:pt x="228600" y="6667500"/>
                  </a:lnTo>
                  <a:cubicBezTo>
                    <a:pt x="102362" y="6667500"/>
                    <a:pt x="0" y="6565138"/>
                    <a:pt x="0" y="64389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171575" y="3343275"/>
            <a:ext cx="6000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1575" y="4048125"/>
            <a:ext cx="31432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spc="7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검수 게이트</a:t>
            </a:r>
          </a:p>
          <a:p>
            <a:pPr algn="l">
              <a:lnSpc>
                <a:spcPts val="2625"/>
              </a:lnSpc>
            </a:pPr>
            <a:r>
              <a:rPr lang="en-US" sz="218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– </a:t>
            </a:r>
            <a:r>
              <a:rPr lang="en-US" sz="218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확인된 데이터만 사용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575" y="5086350"/>
            <a:ext cx="31432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AI는 후보를 만들고</a:t>
            </a: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사람이 통과</a:t>
            </a:r>
          </a:p>
          <a:p>
            <a:pPr algn="l">
              <a:lnSpc>
                <a:spcPts val="243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143000" y="7115175"/>
            <a:ext cx="3228975" cy="485775"/>
            <a:chOff x="0" y="0"/>
            <a:chExt cx="4305300" cy="64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5300" cy="647700"/>
            </a:xfrm>
            <a:custGeom>
              <a:avLst/>
              <a:gdLst/>
              <a:ahLst/>
              <a:cxnLst/>
              <a:rect r="r" b="b" t="t" l="l"/>
              <a:pathLst>
                <a:path h="647700" w="43053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076700" y="0"/>
                  </a:lnTo>
                  <a:cubicBezTo>
                    <a:pt x="4202938" y="0"/>
                    <a:pt x="4305300" y="102362"/>
                    <a:pt x="4305300" y="228600"/>
                  </a:cubicBezTo>
                  <a:lnTo>
                    <a:pt x="4305300" y="419100"/>
                  </a:lnTo>
                  <a:cubicBezTo>
                    <a:pt x="4305300" y="545338"/>
                    <a:pt x="4202938" y="647700"/>
                    <a:pt x="4076700" y="647700"/>
                  </a:cubicBezTo>
                  <a:lnTo>
                    <a:pt x="228600" y="647700"/>
                  </a:lnTo>
                  <a:cubicBezTo>
                    <a:pt x="102362" y="647700"/>
                    <a:pt x="0" y="545338"/>
                    <a:pt x="0" y="419100"/>
                  </a:cubicBezTo>
                  <a:close/>
                </a:path>
              </a:pathLst>
            </a:custGeom>
            <a:solidFill>
              <a:srgbClr val="FBE5C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43000" y="7200900"/>
            <a:ext cx="322897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174" spc="8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Human in the loop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00638" y="3000375"/>
            <a:ext cx="3857625" cy="5000625"/>
            <a:chOff x="0" y="0"/>
            <a:chExt cx="5143500" cy="666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43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5143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914900" y="0"/>
                  </a:lnTo>
                  <a:cubicBezTo>
                    <a:pt x="5041138" y="0"/>
                    <a:pt x="5143500" y="102362"/>
                    <a:pt x="5143500" y="228600"/>
                  </a:cubicBezTo>
                  <a:lnTo>
                    <a:pt x="5143500" y="6438900"/>
                  </a:lnTo>
                  <a:cubicBezTo>
                    <a:pt x="5143500" y="6565138"/>
                    <a:pt x="5041138" y="6667500"/>
                    <a:pt x="4914900" y="6667500"/>
                  </a:cubicBezTo>
                  <a:lnTo>
                    <a:pt x="228600" y="6667500"/>
                  </a:lnTo>
                  <a:cubicBezTo>
                    <a:pt x="102362" y="6667500"/>
                    <a:pt x="0" y="6565138"/>
                    <a:pt x="0" y="64389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5443538" y="3343275"/>
            <a:ext cx="6000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43538" y="4048125"/>
            <a:ext cx="33528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spc="7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근거 판정</a:t>
            </a:r>
          </a:p>
          <a:p>
            <a:pPr algn="l">
              <a:lnSpc>
                <a:spcPts val="2625"/>
              </a:lnSpc>
            </a:pPr>
            <a:r>
              <a:rPr lang="en-US" sz="218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–</a:t>
            </a:r>
            <a:r>
              <a:rPr lang="en-US" sz="218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 추천 이유를 한 번 더 확인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24515" y="5143500"/>
            <a:ext cx="3471862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solar-pro2가 추천 이유를 작성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⟶</a:t>
            </a:r>
            <a:r>
              <a:rPr lang="en-US" sz="2025" spc="7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 solar-mini가 실제 메뉴·가격·도보 시간과 대조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414962" y="6956740"/>
            <a:ext cx="3552825" cy="774071"/>
            <a:chOff x="0" y="0"/>
            <a:chExt cx="4647865" cy="10126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47866" cy="1012653"/>
            </a:xfrm>
            <a:custGeom>
              <a:avLst/>
              <a:gdLst/>
              <a:ahLst/>
              <a:cxnLst/>
              <a:rect r="r" b="b" t="t" l="l"/>
              <a:pathLst>
                <a:path h="1012653" w="4647866">
                  <a:moveTo>
                    <a:pt x="0" y="357407"/>
                  </a:moveTo>
                  <a:cubicBezTo>
                    <a:pt x="0" y="160039"/>
                    <a:pt x="110507" y="0"/>
                    <a:pt x="246789" y="0"/>
                  </a:cubicBezTo>
                  <a:lnTo>
                    <a:pt x="4401076" y="0"/>
                  </a:lnTo>
                  <a:cubicBezTo>
                    <a:pt x="4537359" y="0"/>
                    <a:pt x="4647866" y="160039"/>
                    <a:pt x="4647866" y="357407"/>
                  </a:cubicBezTo>
                  <a:lnTo>
                    <a:pt x="4647866" y="655246"/>
                  </a:lnTo>
                  <a:cubicBezTo>
                    <a:pt x="4647866" y="852614"/>
                    <a:pt x="4537359" y="1012653"/>
                    <a:pt x="4401076" y="1012653"/>
                  </a:cubicBezTo>
                  <a:lnTo>
                    <a:pt x="246789" y="1012653"/>
                  </a:lnTo>
                  <a:cubicBezTo>
                    <a:pt x="110507" y="1012653"/>
                    <a:pt x="0" y="852614"/>
                    <a:pt x="0" y="655246"/>
                  </a:cubicBezTo>
                  <a:close/>
                </a:path>
              </a:pathLst>
            </a:custGeom>
            <a:solidFill>
              <a:srgbClr val="FBE5C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5376862" y="6967538"/>
            <a:ext cx="3590925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74" spc="5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grounded</a:t>
            </a:r>
          </a:p>
          <a:p>
            <a:pPr algn="ctr">
              <a:lnSpc>
                <a:spcPts val="2249"/>
              </a:lnSpc>
            </a:pPr>
            <a:r>
              <a:rPr lang="en-US" sz="1874" spc="5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 / notGrounded / notSure로 판정</a:t>
            </a:r>
          </a:p>
          <a:p>
            <a:pPr algn="ctr">
              <a:lnSpc>
                <a:spcPts val="1889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3644562" y="3000375"/>
            <a:ext cx="4106195" cy="5000625"/>
            <a:chOff x="0" y="0"/>
            <a:chExt cx="5474927" cy="6667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74927" cy="6667500"/>
            </a:xfrm>
            <a:custGeom>
              <a:avLst/>
              <a:gdLst/>
              <a:ahLst/>
              <a:cxnLst/>
              <a:rect r="r" b="b" t="t" l="l"/>
              <a:pathLst>
                <a:path h="6667500" w="5474927">
                  <a:moveTo>
                    <a:pt x="0" y="228600"/>
                  </a:moveTo>
                  <a:cubicBezTo>
                    <a:pt x="0" y="102362"/>
                    <a:pt x="108958" y="0"/>
                    <a:pt x="243330" y="0"/>
                  </a:cubicBezTo>
                  <a:lnTo>
                    <a:pt x="5231597" y="0"/>
                  </a:lnTo>
                  <a:cubicBezTo>
                    <a:pt x="5365969" y="0"/>
                    <a:pt x="5474927" y="102362"/>
                    <a:pt x="5474927" y="228600"/>
                  </a:cubicBezTo>
                  <a:lnTo>
                    <a:pt x="5474927" y="6438900"/>
                  </a:lnTo>
                  <a:cubicBezTo>
                    <a:pt x="5474927" y="6565138"/>
                    <a:pt x="5365969" y="6667500"/>
                    <a:pt x="5231597" y="6667500"/>
                  </a:cubicBezTo>
                  <a:lnTo>
                    <a:pt x="243330" y="6667500"/>
                  </a:lnTo>
                  <a:cubicBezTo>
                    <a:pt x="108958" y="6667500"/>
                    <a:pt x="0" y="6565138"/>
                    <a:pt x="0" y="64389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3987462" y="3343275"/>
            <a:ext cx="6000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27015" y="3990975"/>
            <a:ext cx="392820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spc="7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추천 검증</a:t>
            </a:r>
          </a:p>
          <a:p>
            <a:pPr algn="l">
              <a:lnSpc>
                <a:spcPts val="2625"/>
              </a:lnSpc>
            </a:pPr>
            <a:r>
              <a:rPr lang="en-US" sz="218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– </a:t>
            </a:r>
            <a:r>
              <a:rPr lang="en-US" sz="218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결과 없는 조건은 제안하지 않음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58887" y="5019675"/>
            <a:ext cx="369633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"도보 3분 내에" 같은 후속 </a:t>
            </a: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제안을 띄우기 전,</a:t>
            </a: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그 조건으로 실제 결과가 나오는지 먼저 살핌</a:t>
            </a:r>
          </a:p>
          <a:p>
            <a:pPr algn="l">
              <a:lnSpc>
                <a:spcPts val="2430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3958888" y="7115175"/>
            <a:ext cx="3228975" cy="485775"/>
            <a:chOff x="0" y="0"/>
            <a:chExt cx="4305300" cy="647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05300" cy="647700"/>
            </a:xfrm>
            <a:custGeom>
              <a:avLst/>
              <a:gdLst/>
              <a:ahLst/>
              <a:cxnLst/>
              <a:rect r="r" b="b" t="t" l="l"/>
              <a:pathLst>
                <a:path h="647700" w="43053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076700" y="0"/>
                  </a:lnTo>
                  <a:cubicBezTo>
                    <a:pt x="4202938" y="0"/>
                    <a:pt x="4305300" y="102362"/>
                    <a:pt x="4305300" y="228600"/>
                  </a:cubicBezTo>
                  <a:lnTo>
                    <a:pt x="4305300" y="419100"/>
                  </a:lnTo>
                  <a:cubicBezTo>
                    <a:pt x="4305300" y="545338"/>
                    <a:pt x="4202938" y="647700"/>
                    <a:pt x="4076700" y="647700"/>
                  </a:cubicBezTo>
                  <a:lnTo>
                    <a:pt x="228600" y="647700"/>
                  </a:lnTo>
                  <a:cubicBezTo>
                    <a:pt x="102362" y="647700"/>
                    <a:pt x="0" y="545338"/>
                    <a:pt x="0" y="419100"/>
                  </a:cubicBezTo>
                  <a:close/>
                </a:path>
              </a:pathLst>
            </a:custGeom>
            <a:solidFill>
              <a:srgbClr val="FBE5C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3958888" y="7200900"/>
            <a:ext cx="322897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74" spc="7">
                <a:solidFill>
                  <a:srgbClr val="000000"/>
                </a:solidFill>
                <a:latin typeface="Mandali"/>
                <a:ea typeface="Mandali"/>
                <a:cs typeface="Mandali"/>
                <a:sym typeface="Mandali"/>
              </a:rPr>
              <a:t>실체 없는 제안 금지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7263" y="8801100"/>
            <a:ext cx="160020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9"/>
              </a:lnSpc>
            </a:pPr>
            <a:r>
              <a:rPr lang="en-US" sz="3649" spc="14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근거가 없으면 문장을 버린다.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59250" y="9715500"/>
            <a:ext cx="51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spc="5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07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77362" y="2959894"/>
            <a:ext cx="3857625" cy="5000625"/>
            <a:chOff x="0" y="0"/>
            <a:chExt cx="5143500" cy="6667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43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5143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914900" y="0"/>
                  </a:lnTo>
                  <a:cubicBezTo>
                    <a:pt x="5041138" y="0"/>
                    <a:pt x="5143500" y="102362"/>
                    <a:pt x="5143500" y="228600"/>
                  </a:cubicBezTo>
                  <a:lnTo>
                    <a:pt x="5143500" y="6438900"/>
                  </a:lnTo>
                  <a:cubicBezTo>
                    <a:pt x="5143500" y="6565138"/>
                    <a:pt x="5041138" y="6667500"/>
                    <a:pt x="4914900" y="6667500"/>
                  </a:cubicBezTo>
                  <a:lnTo>
                    <a:pt x="228600" y="6667500"/>
                  </a:lnTo>
                  <a:cubicBezTo>
                    <a:pt x="102362" y="6667500"/>
                    <a:pt x="0" y="6565138"/>
                    <a:pt x="0" y="64389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715500" y="3343275"/>
            <a:ext cx="6000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15500" y="4048125"/>
            <a:ext cx="335257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spc="7">
                <a:solidFill>
                  <a:srgbClr val="1F1916"/>
                </a:solidFill>
                <a:latin typeface="Mandali"/>
                <a:ea typeface="Mandali"/>
                <a:cs typeface="Mandali"/>
                <a:sym typeface="Mandali"/>
              </a:rPr>
              <a:t>기억 검증</a:t>
            </a:r>
          </a:p>
          <a:p>
            <a:pPr algn="l">
              <a:lnSpc>
                <a:spcPts val="2625"/>
              </a:lnSpc>
            </a:pPr>
            <a:r>
              <a:rPr lang="en-US" sz="2187" spc="8">
                <a:solidFill>
                  <a:srgbClr val="1F1916"/>
                </a:solidFill>
                <a:latin typeface="Mandali"/>
                <a:ea typeface="Mandali"/>
                <a:cs typeface="Mandali"/>
                <a:sym typeface="Mandali"/>
              </a:rPr>
              <a:t>– </a:t>
            </a:r>
            <a:r>
              <a:rPr lang="en-US" sz="2187" spc="8">
                <a:solidFill>
                  <a:srgbClr val="1F1916"/>
                </a:solidFill>
                <a:latin typeface="Mandali"/>
                <a:ea typeface="Mandali"/>
                <a:cs typeface="Mandali"/>
                <a:sym typeface="Mandali"/>
              </a:rPr>
              <a:t>없는 메뉴는 기억하지 않음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34550" y="5172075"/>
            <a:ext cx="31432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1F1916"/>
                </a:solidFill>
                <a:latin typeface="Mandali"/>
                <a:ea typeface="Mandali"/>
                <a:cs typeface="Mandali"/>
                <a:sym typeface="Mandali"/>
              </a:rPr>
              <a:t>사용자가 말한 낱말을</a:t>
            </a:r>
          </a:p>
          <a:p>
            <a:pPr algn="l">
              <a:lnSpc>
                <a:spcPts val="2430"/>
              </a:lnSpc>
            </a:pPr>
            <a:r>
              <a:rPr lang="en-US" sz="2025" spc="6">
                <a:solidFill>
                  <a:srgbClr val="1F1916"/>
                </a:solidFill>
                <a:latin typeface="Mandali"/>
                <a:ea typeface="Mandali"/>
                <a:cs typeface="Mandali"/>
                <a:sym typeface="Mandali"/>
              </a:rPr>
              <a:t>실제 메뉴·식당과 대조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1F1916"/>
                </a:solidFill>
                <a:latin typeface="Mandali"/>
                <a:ea typeface="Mandali"/>
                <a:cs typeface="Mandali"/>
                <a:sym typeface="Mandali"/>
              </a:rPr>
              <a:t>ex) 마라탕버거 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86925" y="7115175"/>
            <a:ext cx="3228975" cy="485775"/>
            <a:chOff x="0" y="0"/>
            <a:chExt cx="4305300" cy="647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05300" cy="647700"/>
            </a:xfrm>
            <a:custGeom>
              <a:avLst/>
              <a:gdLst/>
              <a:ahLst/>
              <a:cxnLst/>
              <a:rect r="r" b="b" t="t" l="l"/>
              <a:pathLst>
                <a:path h="647700" w="43053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076700" y="0"/>
                  </a:lnTo>
                  <a:cubicBezTo>
                    <a:pt x="4202938" y="0"/>
                    <a:pt x="4305300" y="102362"/>
                    <a:pt x="4305300" y="228600"/>
                  </a:cubicBezTo>
                  <a:lnTo>
                    <a:pt x="4305300" y="419100"/>
                  </a:lnTo>
                  <a:cubicBezTo>
                    <a:pt x="4305300" y="545338"/>
                    <a:pt x="4202938" y="647700"/>
                    <a:pt x="4076700" y="647700"/>
                  </a:cubicBezTo>
                  <a:lnTo>
                    <a:pt x="228600" y="647700"/>
                  </a:lnTo>
                  <a:cubicBezTo>
                    <a:pt x="102362" y="647700"/>
                    <a:pt x="0" y="545338"/>
                    <a:pt x="0" y="419100"/>
                  </a:cubicBezTo>
                  <a:close/>
                </a:path>
              </a:pathLst>
            </a:custGeom>
            <a:solidFill>
              <a:srgbClr val="FBE5C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9686925" y="7200900"/>
            <a:ext cx="322897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9"/>
              </a:lnSpc>
            </a:pPr>
            <a:r>
              <a:rPr lang="en-US" sz="1974" spc="7">
                <a:solidFill>
                  <a:srgbClr val="1F1916"/>
                </a:solidFill>
                <a:latin typeface="Mandali"/>
                <a:ea typeface="Mandali"/>
                <a:cs typeface="Mandali"/>
                <a:sym typeface="Mandali"/>
              </a:rPr>
              <a:t>없는 낱말은 폐기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42102" y="4007583"/>
            <a:ext cx="5616973" cy="2808487"/>
            <a:chOff x="0" y="0"/>
            <a:chExt cx="8382000" cy="419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8382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8153400" y="0"/>
                  </a:lnTo>
                  <a:cubicBezTo>
                    <a:pt x="8279638" y="0"/>
                    <a:pt x="8382000" y="102362"/>
                    <a:pt x="8382000" y="228600"/>
                  </a:cubicBezTo>
                  <a:lnTo>
                    <a:pt x="8382000" y="3962400"/>
                  </a:lnTo>
                  <a:cubicBezTo>
                    <a:pt x="8382000" y="4088638"/>
                    <a:pt x="8279638" y="4191000"/>
                    <a:pt x="8153400" y="4191000"/>
                  </a:cubicBezTo>
                  <a:lnTo>
                    <a:pt x="228600" y="4191000"/>
                  </a:lnTo>
                  <a:cubicBezTo>
                    <a:pt x="102362" y="4191000"/>
                    <a:pt x="0" y="4088638"/>
                    <a:pt x="0" y="3962400"/>
                  </a:cubicBezTo>
                  <a:close/>
                </a:path>
              </a:pathLst>
            </a:custGeom>
            <a:solidFill>
              <a:srgbClr val="201A17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3377198" y="2205341"/>
            <a:ext cx="12072352" cy="1480995"/>
          </a:xfrm>
          <a:custGeom>
            <a:avLst/>
            <a:gdLst/>
            <a:ahLst/>
            <a:cxnLst/>
            <a:rect r="r" b="b" t="t" l="l"/>
            <a:pathLst>
              <a:path h="1480995" w="12072352">
                <a:moveTo>
                  <a:pt x="0" y="0"/>
                </a:moveTo>
                <a:lnTo>
                  <a:pt x="12072352" y="0"/>
                </a:lnTo>
                <a:lnTo>
                  <a:pt x="12072352" y="1480995"/>
                </a:lnTo>
                <a:lnTo>
                  <a:pt x="0" y="1480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2959494" y="3905411"/>
            <a:ext cx="5863433" cy="3012831"/>
          </a:xfrm>
          <a:custGeom>
            <a:avLst/>
            <a:gdLst/>
            <a:ahLst/>
            <a:cxnLst/>
            <a:rect r="r" b="b" t="t" l="l"/>
            <a:pathLst>
              <a:path h="3012831" w="5863433">
                <a:moveTo>
                  <a:pt x="0" y="0"/>
                </a:moveTo>
                <a:lnTo>
                  <a:pt x="5863433" y="0"/>
                </a:lnTo>
                <a:lnTo>
                  <a:pt x="5863433" y="3012831"/>
                </a:lnTo>
                <a:lnTo>
                  <a:pt x="0" y="3012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914400" y="542925"/>
            <a:ext cx="11144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08 · 정확도와 재현성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028700"/>
            <a:ext cx="16002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15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실측수치</a:t>
            </a:r>
            <a:r>
              <a:rPr lang="en-US" sz="4050" spc="15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 (2026-07-24) 결과: </a:t>
            </a:r>
            <a:r>
              <a:rPr lang="en-US" sz="4050" spc="15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정확도 영향 → 해상도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3153" y="7137317"/>
            <a:ext cx="23414064" cy="2117940"/>
            <a:chOff x="0" y="0"/>
            <a:chExt cx="31218753" cy="282392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1388953" cy="2823920"/>
              <a:chOff x="0" y="0"/>
              <a:chExt cx="21388953" cy="282392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388953" cy="2823920"/>
              </a:xfrm>
              <a:custGeom>
                <a:avLst/>
                <a:gdLst/>
                <a:ahLst/>
                <a:cxnLst/>
                <a:rect r="r" b="b" t="t" l="l"/>
                <a:pathLst>
                  <a:path h="2823920" w="21388953">
                    <a:moveTo>
                      <a:pt x="0" y="154086"/>
                    </a:moveTo>
                    <a:cubicBezTo>
                      <a:pt x="0" y="68944"/>
                      <a:pt x="177804" y="0"/>
                      <a:pt x="397380" y="0"/>
                    </a:cubicBezTo>
                    <a:lnTo>
                      <a:pt x="20991573" y="0"/>
                    </a:lnTo>
                    <a:cubicBezTo>
                      <a:pt x="21211149" y="0"/>
                      <a:pt x="21388953" y="68944"/>
                      <a:pt x="21388953" y="154086"/>
                    </a:cubicBezTo>
                    <a:lnTo>
                      <a:pt x="21388953" y="2669834"/>
                    </a:lnTo>
                    <a:cubicBezTo>
                      <a:pt x="21388953" y="2754891"/>
                      <a:pt x="21211149" y="2823920"/>
                      <a:pt x="20991573" y="2823920"/>
                    </a:cubicBezTo>
                    <a:lnTo>
                      <a:pt x="397380" y="2823920"/>
                    </a:lnTo>
                    <a:cubicBezTo>
                      <a:pt x="177804" y="2823920"/>
                      <a:pt x="0" y="2754976"/>
                      <a:pt x="0" y="26698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E9C9A7"/>
                </a:solidFill>
                <a:prstDash val="solid"/>
                <a:miter/>
              </a:ln>
            </p:spPr>
            <p:txBody>
              <a:bodyPr/>
              <a:p/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9882753" y="1204468"/>
              <a:ext cx="21336000" cy="81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응답 원본을 저장해 API를 다시 부르지 않고 같은 데이터로 규칙을 재채점.</a:t>
              </a:r>
            </a:p>
            <a:p>
              <a:pPr algn="l">
                <a:lnSpc>
                  <a:spcPts val="2430"/>
                </a:lnSpc>
              </a:pPr>
              <a:r>
                <a:rPr lang="en-US" sz="2025" spc="6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API 재호출 없이 후처리 규칙만 두 번 수정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62553" y="347015"/>
              <a:ext cx="9906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2475" spc="9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정확도 개선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38753" y="1541018"/>
              <a:ext cx="1905000" cy="95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375" spc="13">
                  <a:solidFill>
                    <a:srgbClr val="806F65"/>
                  </a:solidFill>
                  <a:latin typeface="Mandali"/>
                  <a:ea typeface="Mandali"/>
                  <a:cs typeface="Mandali"/>
                  <a:sym typeface="Mandali"/>
                </a:rPr>
                <a:t>0%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643753" y="1541018"/>
              <a:ext cx="952500" cy="95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375" spc="13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710553" y="1541018"/>
              <a:ext cx="2286000" cy="95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375" spc="13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62.5%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110853" y="1541018"/>
              <a:ext cx="952500" cy="95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375" spc="13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→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215753" y="1541018"/>
              <a:ext cx="2667000" cy="95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90"/>
                </a:lnSpc>
              </a:pPr>
              <a:r>
                <a:rPr lang="en-US" sz="3825" spc="14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76.4%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199546" y="4339495"/>
            <a:ext cx="3191462" cy="30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spc="7">
                <a:solidFill>
                  <a:srgbClr val="E9C9A7"/>
                </a:solidFill>
                <a:latin typeface="Mandali"/>
                <a:ea typeface="Mandali"/>
                <a:cs typeface="Mandali"/>
                <a:sym typeface="Mandali"/>
              </a:rPr>
              <a:t>비용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99546" y="4977788"/>
            <a:ext cx="1531902" cy="31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708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사진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84627" y="4977788"/>
            <a:ext cx="1787219" cy="31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50"/>
              </a:lnSpc>
            </a:pPr>
            <a:r>
              <a:rPr lang="en-US" sz="1708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5장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99546" y="5513953"/>
            <a:ext cx="1531902" cy="31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708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메뉴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84627" y="5513953"/>
            <a:ext cx="1787219" cy="31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50"/>
              </a:lnSpc>
            </a:pPr>
            <a:r>
              <a:rPr lang="en-US" sz="1708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72개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99546" y="6050119"/>
            <a:ext cx="2553170" cy="31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708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Document Parse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52715" y="6050119"/>
            <a:ext cx="2119131" cy="31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50"/>
              </a:lnSpc>
            </a:pPr>
            <a:r>
              <a:rPr lang="en-US" sz="1708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8회 · 약 $0.08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859250" y="9715500"/>
            <a:ext cx="51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spc="5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2925"/>
            <a:ext cx="11144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09 · 시행착오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28700"/>
            <a:ext cx="16002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15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시행착오와 대응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928812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한입지도 서비스를 개발하며 실제로 겪고 고친 과정들.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0125" y="3429000"/>
            <a:ext cx="4857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9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4500" y="3057525"/>
            <a:ext cx="6143625" cy="1343025"/>
            <a:chOff x="0" y="0"/>
            <a:chExt cx="8191500" cy="179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915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8191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7962900" y="0"/>
                  </a:lnTo>
                  <a:cubicBezTo>
                    <a:pt x="8089138" y="0"/>
                    <a:pt x="8191500" y="102362"/>
                    <a:pt x="8191500" y="228600"/>
                  </a:cubicBezTo>
                  <a:lnTo>
                    <a:pt x="8191500" y="1562100"/>
                  </a:lnTo>
                  <a:cubicBezTo>
                    <a:pt x="8191500" y="1688338"/>
                    <a:pt x="8089138" y="1790700"/>
                    <a:pt x="7962900" y="1790700"/>
                  </a:cubicBezTo>
                  <a:lnTo>
                    <a:pt x="228600" y="1790700"/>
                  </a:lnTo>
                  <a:cubicBezTo>
                    <a:pt x="102362" y="1790700"/>
                    <a:pt x="0" y="1688338"/>
                    <a:pt x="0" y="15621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057400" y="3440906"/>
            <a:ext cx="54292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sz="2139" spc="6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Document Parse가 메뉴판을 그래프로 오인.</a:t>
            </a:r>
          </a:p>
          <a:p>
            <a:pPr algn="l">
              <a:lnSpc>
                <a:spcPts val="2567"/>
              </a:lnSpc>
            </a:pPr>
            <a:r>
              <a:rPr lang="en-US" sz="2139" spc="6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(Chart Type: bar … </a:t>
            </a:r>
            <a:r>
              <a:rPr lang="en-US" sz="2139" spc="6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item_01 12</a:t>
            </a:r>
            <a:r>
              <a:rPr lang="en-US" sz="2139" spc="6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.</a:t>
            </a:r>
            <a:r>
              <a:rPr lang="en-US" sz="2139" spc="6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5 </a:t>
            </a:r>
            <a:r>
              <a:rPr lang="en-US" sz="2139" spc="6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노출)</a:t>
            </a:r>
          </a:p>
          <a:p>
            <a:pPr algn="l">
              <a:lnSpc>
                <a:spcPts val="2567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8258175" y="3429000"/>
            <a:ext cx="514350" cy="600075"/>
            <a:chOff x="0" y="0"/>
            <a:chExt cx="685800" cy="800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" cy="800100"/>
            </a:xfrm>
            <a:custGeom>
              <a:avLst/>
              <a:gdLst/>
              <a:ahLst/>
              <a:cxnLst/>
              <a:rect r="r" b="b" t="t" l="l"/>
              <a:pathLst>
                <a:path h="800100" w="685800">
                  <a:moveTo>
                    <a:pt x="0" y="0"/>
                  </a:moveTo>
                  <a:lnTo>
                    <a:pt x="342900" y="0"/>
                  </a:lnTo>
                  <a:lnTo>
                    <a:pt x="685800" y="400050"/>
                  </a:lnTo>
                  <a:lnTo>
                    <a:pt x="342900" y="800100"/>
                  </a:lnTo>
                  <a:lnTo>
                    <a:pt x="0" y="800100"/>
                  </a:lnTo>
                  <a:lnTo>
                    <a:pt x="342900" y="40005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00125" y="5172075"/>
            <a:ext cx="4857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9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14500" y="4800600"/>
            <a:ext cx="6143625" cy="1343025"/>
            <a:chOff x="0" y="0"/>
            <a:chExt cx="8191500" cy="1790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915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8191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7962900" y="0"/>
                  </a:lnTo>
                  <a:cubicBezTo>
                    <a:pt x="8089138" y="0"/>
                    <a:pt x="8191500" y="102362"/>
                    <a:pt x="8191500" y="228600"/>
                  </a:cubicBezTo>
                  <a:lnTo>
                    <a:pt x="8191500" y="1562100"/>
                  </a:lnTo>
                  <a:cubicBezTo>
                    <a:pt x="8191500" y="1688338"/>
                    <a:pt x="8089138" y="1790700"/>
                    <a:pt x="7962900" y="1790700"/>
                  </a:cubicBezTo>
                  <a:lnTo>
                    <a:pt x="228600" y="1790700"/>
                  </a:lnTo>
                  <a:cubicBezTo>
                    <a:pt x="102362" y="1790700"/>
                    <a:pt x="0" y="1688338"/>
                    <a:pt x="0" y="15621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2057400" y="5157788"/>
            <a:ext cx="542925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spc="6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천원단위 소수 표기</a:t>
            </a:r>
          </a:p>
          <a:p>
            <a:pPr algn="l">
              <a:lnSpc>
                <a:spcPts val="2565"/>
              </a:lnSpc>
            </a:pPr>
            <a:r>
              <a:rPr lang="en-US" sz="213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(</a:t>
            </a:r>
            <a:r>
              <a:rPr lang="en-US" sz="213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7.0·1.5 가격 표기)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58175" y="5172075"/>
            <a:ext cx="514350" cy="600075"/>
            <a:chOff x="0" y="0"/>
            <a:chExt cx="685800" cy="800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5800" cy="800100"/>
            </a:xfrm>
            <a:custGeom>
              <a:avLst/>
              <a:gdLst/>
              <a:ahLst/>
              <a:cxnLst/>
              <a:rect r="r" b="b" t="t" l="l"/>
              <a:pathLst>
                <a:path h="800100" w="685800">
                  <a:moveTo>
                    <a:pt x="0" y="0"/>
                  </a:moveTo>
                  <a:lnTo>
                    <a:pt x="342900" y="0"/>
                  </a:lnTo>
                  <a:lnTo>
                    <a:pt x="685800" y="400050"/>
                  </a:lnTo>
                  <a:lnTo>
                    <a:pt x="342900" y="800100"/>
                  </a:lnTo>
                  <a:lnTo>
                    <a:pt x="0" y="800100"/>
                  </a:lnTo>
                  <a:lnTo>
                    <a:pt x="342900" y="40005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072562" y="4786312"/>
            <a:ext cx="8029575" cy="1371600"/>
            <a:chOff x="0" y="0"/>
            <a:chExt cx="1070610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061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06100">
                  <a:moveTo>
                    <a:pt x="0" y="233426"/>
                  </a:moveTo>
                  <a:cubicBezTo>
                    <a:pt x="0" y="104521"/>
                    <a:pt x="104521" y="0"/>
                    <a:pt x="233426" y="0"/>
                  </a:cubicBezTo>
                  <a:lnTo>
                    <a:pt x="10472674" y="0"/>
                  </a:lnTo>
                  <a:cubicBezTo>
                    <a:pt x="10601579" y="0"/>
                    <a:pt x="10706100" y="104521"/>
                    <a:pt x="10706100" y="233426"/>
                  </a:cubicBezTo>
                  <a:lnTo>
                    <a:pt x="10706100" y="1595374"/>
                  </a:lnTo>
                  <a:cubicBezTo>
                    <a:pt x="10706100" y="1724279"/>
                    <a:pt x="10601579" y="1828800"/>
                    <a:pt x="10472674" y="1828800"/>
                  </a:cubicBezTo>
                  <a:lnTo>
                    <a:pt x="233426" y="1828800"/>
                  </a:lnTo>
                  <a:cubicBezTo>
                    <a:pt x="104521" y="1828800"/>
                    <a:pt x="0" y="1724279"/>
                    <a:pt x="0" y="159537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9C9A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429750" y="5129212"/>
            <a:ext cx="728662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1,000배 환산 </a:t>
            </a:r>
          </a:p>
          <a:p>
            <a:pPr algn="l">
              <a:lnSpc>
                <a:spcPts val="2565"/>
              </a:lnSpc>
            </a:pPr>
            <a:r>
              <a:rPr lang="en-US" sz="2137" spc="8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+ </a:t>
            </a:r>
            <a:r>
              <a:rPr lang="en-US" sz="2137" spc="8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OCR이 만든 공백 `4</a:t>
            </a:r>
            <a:r>
              <a:rPr lang="en-US" sz="2137" spc="8" u="sng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sz="2137" spc="8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000`, `21</a:t>
            </a:r>
            <a:r>
              <a:rPr lang="en-US" sz="2137" spc="8" u="sng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 </a:t>
            </a:r>
            <a:r>
              <a:rPr lang="en-US" sz="2137" spc="8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,000` 천단위까지 흡수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0125" y="6915150"/>
            <a:ext cx="4857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spc="9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14500" y="6543675"/>
            <a:ext cx="6143625" cy="1343025"/>
            <a:chOff x="0" y="0"/>
            <a:chExt cx="8191500" cy="1790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915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8191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7962900" y="0"/>
                  </a:lnTo>
                  <a:cubicBezTo>
                    <a:pt x="8089138" y="0"/>
                    <a:pt x="8191500" y="102362"/>
                    <a:pt x="8191500" y="228600"/>
                  </a:cubicBezTo>
                  <a:lnTo>
                    <a:pt x="8191500" y="1562100"/>
                  </a:lnTo>
                  <a:cubicBezTo>
                    <a:pt x="8191500" y="1688338"/>
                    <a:pt x="8089138" y="1790700"/>
                    <a:pt x="7962900" y="1790700"/>
                  </a:cubicBezTo>
                  <a:lnTo>
                    <a:pt x="228600" y="1790700"/>
                  </a:lnTo>
                  <a:cubicBezTo>
                    <a:pt x="102362" y="1790700"/>
                    <a:pt x="0" y="1688338"/>
                    <a:pt x="0" y="1562100"/>
                  </a:cubicBezTo>
                  <a:close/>
                </a:path>
              </a:pathLst>
            </a:custGeom>
            <a:solidFill>
              <a:srgbClr val="FFF6E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2057400" y="6900862"/>
            <a:ext cx="542925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spc="6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사이드 메뉴 문제</a:t>
            </a:r>
          </a:p>
          <a:p>
            <a:pPr algn="l">
              <a:lnSpc>
                <a:spcPts val="2565"/>
              </a:lnSpc>
            </a:pPr>
            <a:r>
              <a:rPr lang="en-US" sz="213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(</a:t>
            </a:r>
            <a:r>
              <a:rPr lang="en-US" sz="2137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공기밥 1,000원으로 메뉴 통과)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58175" y="6915150"/>
            <a:ext cx="514350" cy="600075"/>
            <a:chOff x="0" y="0"/>
            <a:chExt cx="685800" cy="800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5800" cy="800100"/>
            </a:xfrm>
            <a:custGeom>
              <a:avLst/>
              <a:gdLst/>
              <a:ahLst/>
              <a:cxnLst/>
              <a:rect r="r" b="b" t="t" l="l"/>
              <a:pathLst>
                <a:path h="800100" w="685800">
                  <a:moveTo>
                    <a:pt x="0" y="0"/>
                  </a:moveTo>
                  <a:lnTo>
                    <a:pt x="342900" y="0"/>
                  </a:lnTo>
                  <a:lnTo>
                    <a:pt x="685800" y="400050"/>
                  </a:lnTo>
                  <a:lnTo>
                    <a:pt x="342900" y="800100"/>
                  </a:lnTo>
                  <a:lnTo>
                    <a:pt x="0" y="800100"/>
                  </a:lnTo>
                  <a:lnTo>
                    <a:pt x="342900" y="40005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072562" y="6529388"/>
            <a:ext cx="8029575" cy="1371600"/>
            <a:chOff x="0" y="0"/>
            <a:chExt cx="1070610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061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06100">
                  <a:moveTo>
                    <a:pt x="0" y="233426"/>
                  </a:moveTo>
                  <a:cubicBezTo>
                    <a:pt x="0" y="104521"/>
                    <a:pt x="104521" y="0"/>
                    <a:pt x="233426" y="0"/>
                  </a:cubicBezTo>
                  <a:lnTo>
                    <a:pt x="10472674" y="0"/>
                  </a:lnTo>
                  <a:cubicBezTo>
                    <a:pt x="10601579" y="0"/>
                    <a:pt x="10706100" y="104521"/>
                    <a:pt x="10706100" y="233426"/>
                  </a:cubicBezTo>
                  <a:lnTo>
                    <a:pt x="10706100" y="1595374"/>
                  </a:lnTo>
                  <a:cubicBezTo>
                    <a:pt x="10706100" y="1724279"/>
                    <a:pt x="10601579" y="1828800"/>
                    <a:pt x="10472674" y="1828800"/>
                  </a:cubicBezTo>
                  <a:lnTo>
                    <a:pt x="233426" y="1828800"/>
                  </a:lnTo>
                  <a:cubicBezTo>
                    <a:pt x="104521" y="1828800"/>
                    <a:pt x="0" y="1724279"/>
                    <a:pt x="0" y="159537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9C9A7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429750" y="6929438"/>
            <a:ext cx="728662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본메뉴/사이드 판정 규칙 </a:t>
            </a:r>
            <a:r>
              <a:rPr lang="en-US" sz="2137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api/_lib/side-menu.js로 작성</a:t>
            </a:r>
          </a:p>
          <a:p>
            <a:pPr algn="l">
              <a:lnSpc>
                <a:spcPts val="2565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8696325"/>
            <a:ext cx="16002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spc="7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원칙: 어느 식당에나 통하는 것은 규칙으로, 식당별 특이점은 비고에 작성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9715500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5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SIXSENSE · 한입지도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859250" y="9715500"/>
            <a:ext cx="51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spc="5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09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072562" y="2969419"/>
            <a:ext cx="8029575" cy="1371600"/>
            <a:chOff x="0" y="0"/>
            <a:chExt cx="1070610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061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06100">
                  <a:moveTo>
                    <a:pt x="0" y="233426"/>
                  </a:moveTo>
                  <a:cubicBezTo>
                    <a:pt x="0" y="104521"/>
                    <a:pt x="104521" y="0"/>
                    <a:pt x="233426" y="0"/>
                  </a:cubicBezTo>
                  <a:lnTo>
                    <a:pt x="10472674" y="0"/>
                  </a:lnTo>
                  <a:cubicBezTo>
                    <a:pt x="10601579" y="0"/>
                    <a:pt x="10706100" y="104521"/>
                    <a:pt x="10706100" y="233426"/>
                  </a:cubicBezTo>
                  <a:lnTo>
                    <a:pt x="10706100" y="1595374"/>
                  </a:lnTo>
                  <a:cubicBezTo>
                    <a:pt x="10706100" y="1724279"/>
                    <a:pt x="10601579" y="1828800"/>
                    <a:pt x="10472674" y="1828800"/>
                  </a:cubicBezTo>
                  <a:lnTo>
                    <a:pt x="233426" y="1828800"/>
                  </a:lnTo>
                  <a:cubicBezTo>
                    <a:pt x="104521" y="1828800"/>
                    <a:pt x="0" y="1724279"/>
                    <a:pt x="0" y="159537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9C9A7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344025" y="3440906"/>
            <a:ext cx="728662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spc="6">
                <a:solidFill>
                  <a:srgbClr val="6B4632"/>
                </a:solidFill>
                <a:latin typeface="Mandali"/>
                <a:ea typeface="Mandali"/>
                <a:cs typeface="Mandali"/>
                <a:sym typeface="Mandali"/>
              </a:rPr>
              <a:t>그래프로 오인한 결과값을 폐기하여 스프레드시트 저장X</a:t>
            </a:r>
          </a:p>
          <a:p>
            <a:pPr algn="l">
              <a:lnSpc>
                <a:spcPts val="256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42925"/>
            <a:ext cx="11144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10 </a:t>
            </a:r>
            <a:r>
              <a:rPr lang="en-US" sz="1575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· 시연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28700"/>
            <a:ext cx="16002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15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한입지도의 시연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928812"/>
            <a:ext cx="16002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예산 넣기 → 추천 → 근거 검증 → 제보 → 데이터 파이프라인 순서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00112" y="2671762"/>
            <a:ext cx="9601200" cy="6115050"/>
            <a:chOff x="0" y="0"/>
            <a:chExt cx="12801600" cy="815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1280160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12571857" y="0"/>
                  </a:lnTo>
                  <a:cubicBezTo>
                    <a:pt x="12698730" y="0"/>
                    <a:pt x="12801600" y="102870"/>
                    <a:pt x="12801600" y="229743"/>
                  </a:cubicBezTo>
                  <a:lnTo>
                    <a:pt x="12801600" y="7923657"/>
                  </a:lnTo>
                  <a:cubicBezTo>
                    <a:pt x="12801600" y="8050530"/>
                    <a:pt x="12698730" y="8153400"/>
                    <a:pt x="12571857" y="8153400"/>
                  </a:cubicBezTo>
                  <a:lnTo>
                    <a:pt x="229743" y="8153400"/>
                  </a:lnTo>
                  <a:cubicBezTo>
                    <a:pt x="102870" y="8153400"/>
                    <a:pt x="0" y="8050530"/>
                    <a:pt x="0" y="792365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9C9A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1200150" y="2971800"/>
            <a:ext cx="9001125" cy="5514975"/>
            <a:chOff x="0" y="0"/>
            <a:chExt cx="12001500" cy="7353300"/>
          </a:xfrm>
        </p:grpSpPr>
        <p:sp>
          <p:nvSpPr>
            <p:cNvPr name="Freeform 8" id="8">
              <a:hlinkClick r:id="rId2" tooltip="https://sixsense.askewly.com"/>
            </p:cNvPr>
            <p:cNvSpPr/>
            <p:nvPr/>
          </p:nvSpPr>
          <p:spPr>
            <a:xfrm flipH="false" flipV="false" rot="0">
              <a:off x="0" y="0"/>
              <a:ext cx="12001500" cy="7353300"/>
            </a:xfrm>
            <a:custGeom>
              <a:avLst/>
              <a:gdLst/>
              <a:ahLst/>
              <a:cxnLst/>
              <a:rect r="r" b="b" t="t" l="l"/>
              <a:pathLst>
                <a:path h="7353300" w="12001500">
                  <a:moveTo>
                    <a:pt x="0" y="0"/>
                  </a:moveTo>
                  <a:lnTo>
                    <a:pt x="12001500" y="0"/>
                  </a:lnTo>
                  <a:lnTo>
                    <a:pt x="12001500" y="7353300"/>
                  </a:lnTo>
                  <a:lnTo>
                    <a:pt x="0" y="735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7361" r="0" b="-57362"/>
              </a:stretch>
            </a:blipFill>
          </p:spPr>
          <p:txBody>
            <a:bodyPr/>
            <a:p/>
          </p:txBody>
        </p:sp>
      </p:grpSp>
      <p:sp>
        <p:nvSpPr>
          <p:cNvPr name="TextBox 9" id="9"/>
          <p:cNvSpPr txBox="true"/>
          <p:nvPr/>
        </p:nvSpPr>
        <p:spPr>
          <a:xfrm rot="0">
            <a:off x="11172825" y="2886075"/>
            <a:ext cx="400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30050" y="2876550"/>
            <a:ext cx="47148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사용자의 예산과 상황 입력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2825" y="3857625"/>
            <a:ext cx="400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30050" y="3848100"/>
            <a:ext cx="47148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실제 </a:t>
            </a:r>
            <a:r>
              <a:rPr lang="en-US" sz="2250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지도 핀포인트 확인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72825" y="4829175"/>
            <a:ext cx="400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30050" y="4819650"/>
            <a:ext cx="47148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Solar-pro2의 근거 검증 확인</a:t>
            </a:r>
            <a:r>
              <a:rPr lang="en-US" sz="2250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72825" y="5800725"/>
            <a:ext cx="400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30050" y="5791200"/>
            <a:ext cx="471487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8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메뉴판 사진 제보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72825" y="6886575"/>
            <a:ext cx="5372100" cy="685800"/>
            <a:chOff x="0" y="0"/>
            <a:chExt cx="71628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6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7162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934200" y="0"/>
                  </a:lnTo>
                  <a:cubicBezTo>
                    <a:pt x="7060438" y="0"/>
                    <a:pt x="7162800" y="102362"/>
                    <a:pt x="7162800" y="228600"/>
                  </a:cubicBezTo>
                  <a:lnTo>
                    <a:pt x="7162800" y="685800"/>
                  </a:lnTo>
                  <a:cubicBezTo>
                    <a:pt x="7162800" y="812038"/>
                    <a:pt x="7060438" y="914400"/>
                    <a:pt x="6934200" y="914400"/>
                  </a:cubicBezTo>
                  <a:lnTo>
                    <a:pt x="228600" y="914400"/>
                  </a:lnTo>
                  <a:cubicBezTo>
                    <a:pt x="102362" y="914400"/>
                    <a:pt x="0" y="812038"/>
                    <a:pt x="0" y="685800"/>
                  </a:cubicBezTo>
                  <a:close/>
                </a:path>
              </a:pathLst>
            </a:custGeom>
            <a:solidFill>
              <a:srgbClr val="201A17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401425" y="7072312"/>
            <a:ext cx="49149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50곳 · 후보 719 · 확인 580 · 대기 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59250" y="9715500"/>
            <a:ext cx="51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spc="5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0025"/>
            <a:chOff x="0" y="0"/>
            <a:chExt cx="24384000" cy="2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66700"/>
            </a:xfrm>
            <a:custGeom>
              <a:avLst/>
              <a:gdLst/>
              <a:ahLst/>
              <a:cxnLst/>
              <a:rect r="r" b="b" t="t" l="l"/>
              <a:pathLst>
                <a:path h="26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42962" y="2368122"/>
            <a:ext cx="15423761" cy="785812"/>
            <a:chOff x="0" y="0"/>
            <a:chExt cx="20565014" cy="1047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65015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565015">
                  <a:moveTo>
                    <a:pt x="0" y="232791"/>
                  </a:moveTo>
                  <a:cubicBezTo>
                    <a:pt x="0" y="104267"/>
                    <a:pt x="162423" y="0"/>
                    <a:pt x="362633" y="0"/>
                  </a:cubicBezTo>
                  <a:lnTo>
                    <a:pt x="20202381" y="0"/>
                  </a:lnTo>
                  <a:cubicBezTo>
                    <a:pt x="20402790" y="0"/>
                    <a:pt x="20565015" y="104267"/>
                    <a:pt x="20565015" y="232791"/>
                  </a:cubicBezTo>
                  <a:lnTo>
                    <a:pt x="20565015" y="814959"/>
                  </a:lnTo>
                  <a:cubicBezTo>
                    <a:pt x="20565015" y="943610"/>
                    <a:pt x="20402592" y="1047750"/>
                    <a:pt x="20202381" y="1047750"/>
                  </a:cubicBezTo>
                  <a:lnTo>
                    <a:pt x="362633" y="1047750"/>
                  </a:lnTo>
                  <a:cubicBezTo>
                    <a:pt x="162423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FFF6E8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35856" y="2546715"/>
            <a:ext cx="1257300" cy="428625"/>
            <a:chOff x="0" y="0"/>
            <a:chExt cx="1676400" cy="571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6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76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프론트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64606" y="2518140"/>
            <a:ext cx="2714625" cy="485775"/>
            <a:chOff x="0" y="0"/>
            <a:chExt cx="3619500" cy="647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500" cy="647700"/>
            </a:xfrm>
            <a:custGeom>
              <a:avLst/>
              <a:gdLst/>
              <a:ahLst/>
              <a:cxnLst/>
              <a:rect r="r" b="b" t="t" l="l"/>
              <a:pathLst>
                <a:path h="6477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6195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바닐라 JS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07831" y="2518140"/>
            <a:ext cx="4914900" cy="485775"/>
            <a:chOff x="0" y="0"/>
            <a:chExt cx="6553200" cy="647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53200" cy="647700"/>
            </a:xfrm>
            <a:custGeom>
              <a:avLst/>
              <a:gdLst/>
              <a:ahLst/>
              <a:cxnLst/>
              <a:rect r="r" b="b" t="t" l="l"/>
              <a:pathLst>
                <a:path h="6477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553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화면 5개·상태가 얕아 빌드 스텝 없이 운영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2962" y="3339672"/>
            <a:ext cx="15423761" cy="785812"/>
            <a:chOff x="0" y="0"/>
            <a:chExt cx="20565014" cy="1047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65015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565015">
                  <a:moveTo>
                    <a:pt x="0" y="232791"/>
                  </a:moveTo>
                  <a:cubicBezTo>
                    <a:pt x="0" y="104267"/>
                    <a:pt x="162423" y="0"/>
                    <a:pt x="362633" y="0"/>
                  </a:cubicBezTo>
                  <a:lnTo>
                    <a:pt x="20202381" y="0"/>
                  </a:lnTo>
                  <a:cubicBezTo>
                    <a:pt x="20402790" y="0"/>
                    <a:pt x="20565015" y="104267"/>
                    <a:pt x="20565015" y="232791"/>
                  </a:cubicBezTo>
                  <a:lnTo>
                    <a:pt x="20565015" y="814959"/>
                  </a:lnTo>
                  <a:cubicBezTo>
                    <a:pt x="20565015" y="943610"/>
                    <a:pt x="20402592" y="1047750"/>
                    <a:pt x="20202381" y="1047750"/>
                  </a:cubicBezTo>
                  <a:lnTo>
                    <a:pt x="362633" y="1047750"/>
                  </a:lnTo>
                  <a:cubicBezTo>
                    <a:pt x="162423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FFF6E8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35856" y="3518265"/>
            <a:ext cx="1257300" cy="428625"/>
            <a:chOff x="0" y="0"/>
            <a:chExt cx="1676400" cy="571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76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76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지도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64606" y="3489690"/>
            <a:ext cx="2714625" cy="485775"/>
            <a:chOff x="0" y="0"/>
            <a:chExt cx="3619500" cy="647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19500" cy="647700"/>
            </a:xfrm>
            <a:custGeom>
              <a:avLst/>
              <a:gdLst/>
              <a:ahLst/>
              <a:cxnLst/>
              <a:rect r="r" b="b" t="t" l="l"/>
              <a:pathLst>
                <a:path h="6477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6195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Kakao Maps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07831" y="3489690"/>
            <a:ext cx="4914900" cy="485775"/>
            <a:chOff x="0" y="0"/>
            <a:chExt cx="6553200" cy="647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53200" cy="647700"/>
            </a:xfrm>
            <a:custGeom>
              <a:avLst/>
              <a:gdLst/>
              <a:ahLst/>
              <a:cxnLst/>
              <a:rect r="r" b="b" t="t" l="l"/>
              <a:pathLst>
                <a:path h="6477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553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경영관 고정 지점에서 도보 시간 계산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42962" y="4311222"/>
            <a:ext cx="15423761" cy="785812"/>
            <a:chOff x="0" y="0"/>
            <a:chExt cx="20565014" cy="10477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565015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565015">
                  <a:moveTo>
                    <a:pt x="0" y="232791"/>
                  </a:moveTo>
                  <a:cubicBezTo>
                    <a:pt x="0" y="104267"/>
                    <a:pt x="162423" y="0"/>
                    <a:pt x="362633" y="0"/>
                  </a:cubicBezTo>
                  <a:lnTo>
                    <a:pt x="20202381" y="0"/>
                  </a:lnTo>
                  <a:cubicBezTo>
                    <a:pt x="20402790" y="0"/>
                    <a:pt x="20565015" y="104267"/>
                    <a:pt x="20565015" y="232791"/>
                  </a:cubicBezTo>
                  <a:lnTo>
                    <a:pt x="20565015" y="814959"/>
                  </a:lnTo>
                  <a:cubicBezTo>
                    <a:pt x="20565015" y="943610"/>
                    <a:pt x="20402592" y="1047750"/>
                    <a:pt x="20202381" y="1047750"/>
                  </a:cubicBezTo>
                  <a:lnTo>
                    <a:pt x="362633" y="1047750"/>
                  </a:lnTo>
                  <a:cubicBezTo>
                    <a:pt x="162423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FFF6E8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35856" y="4489815"/>
            <a:ext cx="1257300" cy="428625"/>
            <a:chOff x="0" y="0"/>
            <a:chExt cx="1676400" cy="571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76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676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데이터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564606" y="4461240"/>
            <a:ext cx="2714625" cy="485775"/>
            <a:chOff x="0" y="0"/>
            <a:chExt cx="3619500" cy="647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19500" cy="647700"/>
            </a:xfrm>
            <a:custGeom>
              <a:avLst/>
              <a:gdLst/>
              <a:ahLst/>
              <a:cxnLst/>
              <a:rect r="r" b="b" t="t" l="l"/>
              <a:pathLst>
                <a:path h="6477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6195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구글 스프레드시트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507831" y="4461240"/>
            <a:ext cx="4914900" cy="485775"/>
            <a:chOff x="0" y="0"/>
            <a:chExt cx="6553200" cy="647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53200" cy="647700"/>
            </a:xfrm>
            <a:custGeom>
              <a:avLst/>
              <a:gdLst/>
              <a:ahLst/>
              <a:cxnLst/>
              <a:rect r="r" b="b" t="t" l="l"/>
              <a:pathLst>
                <a:path h="6477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553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팀원이 직접 열어 수정하고 검수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42962" y="5282772"/>
            <a:ext cx="15423761" cy="785812"/>
            <a:chOff x="0" y="0"/>
            <a:chExt cx="20565014" cy="10477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565015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565015">
                  <a:moveTo>
                    <a:pt x="0" y="232791"/>
                  </a:moveTo>
                  <a:cubicBezTo>
                    <a:pt x="0" y="104267"/>
                    <a:pt x="162423" y="0"/>
                    <a:pt x="362633" y="0"/>
                  </a:cubicBezTo>
                  <a:lnTo>
                    <a:pt x="20202381" y="0"/>
                  </a:lnTo>
                  <a:cubicBezTo>
                    <a:pt x="20402790" y="0"/>
                    <a:pt x="20565015" y="104267"/>
                    <a:pt x="20565015" y="232791"/>
                  </a:cubicBezTo>
                  <a:lnTo>
                    <a:pt x="20565015" y="814959"/>
                  </a:lnTo>
                  <a:cubicBezTo>
                    <a:pt x="20565015" y="943610"/>
                    <a:pt x="20402592" y="1047750"/>
                    <a:pt x="20202381" y="1047750"/>
                  </a:cubicBezTo>
                  <a:lnTo>
                    <a:pt x="362633" y="1047750"/>
                  </a:lnTo>
                  <a:cubicBezTo>
                    <a:pt x="162423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FFF6E8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35856" y="5461365"/>
            <a:ext cx="1257300" cy="428625"/>
            <a:chOff x="0" y="0"/>
            <a:chExt cx="1676400" cy="571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76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676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서버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564606" y="5432790"/>
            <a:ext cx="2714625" cy="485775"/>
            <a:chOff x="0" y="0"/>
            <a:chExt cx="3619500" cy="647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19500" cy="647700"/>
            </a:xfrm>
            <a:custGeom>
              <a:avLst/>
              <a:gdLst/>
              <a:ahLst/>
              <a:cxnLst/>
              <a:rect r="r" b="b" t="t" l="l"/>
              <a:pathLst>
                <a:path h="6477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6195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Vercel Functions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593965" y="5432790"/>
            <a:ext cx="4914900" cy="485775"/>
            <a:chOff x="0" y="0"/>
            <a:chExt cx="6553200" cy="647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53200" cy="647700"/>
            </a:xfrm>
            <a:custGeom>
              <a:avLst/>
              <a:gdLst/>
              <a:ahLst/>
              <a:cxnLst/>
              <a:rect r="r" b="b" t="t" l="l"/>
              <a:pathLst>
                <a:path h="6477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553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API 키는 서버에만 보관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57250" y="7718790"/>
            <a:ext cx="800100" cy="342900"/>
            <a:chOff x="0" y="0"/>
            <a:chExt cx="1066800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6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066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API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43075" y="7718790"/>
            <a:ext cx="9001125" cy="342900"/>
            <a:chOff x="0" y="0"/>
            <a:chExt cx="12001500" cy="457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00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001500">
                  <a:moveTo>
                    <a:pt x="0" y="0"/>
                  </a:moveTo>
                  <a:lnTo>
                    <a:pt x="12001500" y="0"/>
                  </a:lnTo>
                  <a:lnTo>
                    <a:pt x="12001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20015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/data  /chat  /recommend  /parse-query  /parse-menu  /identify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43075" y="8175990"/>
            <a:ext cx="9001125" cy="342900"/>
            <a:chOff x="0" y="0"/>
            <a:chExt cx="12001500" cy="457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00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001500">
                  <a:moveTo>
                    <a:pt x="0" y="0"/>
                  </a:moveTo>
                  <a:lnTo>
                    <a:pt x="12001500" y="0"/>
                  </a:lnTo>
                  <a:lnTo>
                    <a:pt x="12001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20015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6B4632"/>
                  </a:solidFill>
                  <a:latin typeface="Mandali"/>
                  <a:ea typeface="Mandali"/>
                  <a:cs typeface="Mandali"/>
                  <a:sym typeface="Mandali"/>
                </a:rPr>
                <a:t>/contribute  /review  /config  ·  cron /crawl-cafeteria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57350" y="8776065"/>
            <a:ext cx="10287000" cy="523875"/>
            <a:chOff x="0" y="0"/>
            <a:chExt cx="13716000" cy="698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716000" cy="698500"/>
            </a:xfrm>
            <a:custGeom>
              <a:avLst/>
              <a:gdLst/>
              <a:ahLst/>
              <a:cxnLst/>
              <a:rect r="r" b="b" t="t" l="l"/>
              <a:pathLst>
                <a:path h="6985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698500"/>
                  </a:lnTo>
                  <a:lnTo>
                    <a:pt x="0" y="698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888" r="0" b="-31534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13716000" cy="688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 spc="7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프레임워크보다 운영과 검수에 맞는 구조를 선택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14400" y="542925"/>
            <a:ext cx="11144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042" indent="-170021" lvl="1">
              <a:lnSpc>
                <a:spcPts val="1889"/>
              </a:lnSpc>
              <a:buAutoNum type="arabicPeriod" startAt="1"/>
            </a:pPr>
            <a:r>
              <a:rPr lang="en-US" sz="1575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기술 스택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57250" y="1314450"/>
            <a:ext cx="16002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15">
                <a:solidFill>
                  <a:srgbClr val="201A17"/>
                </a:solidFill>
                <a:latin typeface="Mandali"/>
                <a:ea typeface="Mandali"/>
                <a:cs typeface="Mandali"/>
                <a:sym typeface="Mandali"/>
              </a:rPr>
              <a:t>기술 스택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57250" y="6401959"/>
            <a:ext cx="15423761" cy="785812"/>
            <a:chOff x="0" y="0"/>
            <a:chExt cx="20565014" cy="10477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565015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565015">
                  <a:moveTo>
                    <a:pt x="0" y="232791"/>
                  </a:moveTo>
                  <a:cubicBezTo>
                    <a:pt x="0" y="104267"/>
                    <a:pt x="162423" y="0"/>
                    <a:pt x="362633" y="0"/>
                  </a:cubicBezTo>
                  <a:lnTo>
                    <a:pt x="20202381" y="0"/>
                  </a:lnTo>
                  <a:cubicBezTo>
                    <a:pt x="20402790" y="0"/>
                    <a:pt x="20565015" y="104267"/>
                    <a:pt x="20565015" y="232791"/>
                  </a:cubicBezTo>
                  <a:lnTo>
                    <a:pt x="20565015" y="814959"/>
                  </a:lnTo>
                  <a:cubicBezTo>
                    <a:pt x="20565015" y="943610"/>
                    <a:pt x="20402592" y="1047750"/>
                    <a:pt x="20202381" y="1047750"/>
                  </a:cubicBezTo>
                  <a:lnTo>
                    <a:pt x="362633" y="1047750"/>
                  </a:lnTo>
                  <a:cubicBezTo>
                    <a:pt x="162423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FFF6E8"/>
            </a:solidFill>
            <a:ln w="14288" cap="sq">
              <a:solidFill>
                <a:srgbClr val="E9C9A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14425" y="6611509"/>
            <a:ext cx="1257300" cy="428625"/>
            <a:chOff x="0" y="0"/>
            <a:chExt cx="1676400" cy="5715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676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676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F26A21"/>
                  </a:solidFill>
                  <a:latin typeface="Mandali"/>
                  <a:ea typeface="Mandali"/>
                  <a:cs typeface="Mandali"/>
                  <a:sym typeface="Mandali"/>
                </a:rPr>
                <a:t>AI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393156" y="6484019"/>
            <a:ext cx="3181758" cy="556115"/>
            <a:chOff x="0" y="0"/>
            <a:chExt cx="4242345" cy="74148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242345" cy="741487"/>
            </a:xfrm>
            <a:custGeom>
              <a:avLst/>
              <a:gdLst/>
              <a:ahLst/>
              <a:cxnLst/>
              <a:rect r="r" b="b" t="t" l="l"/>
              <a:pathLst>
                <a:path h="741487" w="4242345">
                  <a:moveTo>
                    <a:pt x="0" y="0"/>
                  </a:moveTo>
                  <a:lnTo>
                    <a:pt x="4242345" y="0"/>
                  </a:lnTo>
                  <a:lnTo>
                    <a:pt x="4242345" y="741487"/>
                  </a:lnTo>
                  <a:lnTo>
                    <a:pt x="0" y="741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438" r="14681" b="-3879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242345" cy="74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7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Document Parse + Solar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593965" y="6551978"/>
            <a:ext cx="4914900" cy="485775"/>
            <a:chOff x="0" y="0"/>
            <a:chExt cx="6553200" cy="6477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53200" cy="647700"/>
            </a:xfrm>
            <a:custGeom>
              <a:avLst/>
              <a:gdLst/>
              <a:ahLst/>
              <a:cxnLst/>
              <a:rect r="r" b="b" t="t" l="l"/>
              <a:pathLst>
                <a:path h="6477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6553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spc="6">
                  <a:solidFill>
                    <a:srgbClr val="201A17"/>
                  </a:solidFill>
                  <a:latin typeface="Mandali"/>
                  <a:ea typeface="Mandali"/>
                  <a:cs typeface="Mandali"/>
                  <a:sym typeface="Mandali"/>
                </a:rPr>
                <a:t>파싱·조건 추출·추천 이유·근거 판정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71525"/>
            <a:ext cx="42862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12 · 한계와 추후 확장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7275" y="2524125"/>
            <a:ext cx="1500187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spc="1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한계 및 대응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0125" y="3714750"/>
            <a:ext cx="5429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3075" y="3686175"/>
            <a:ext cx="928687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spc="8">
                <a:solidFill>
                  <a:srgbClr val="E9C9A7"/>
                </a:solidFill>
                <a:latin typeface="Mandali"/>
                <a:ea typeface="Mandali"/>
                <a:cs typeface="Mandali"/>
                <a:sym typeface="Mandali"/>
              </a:rPr>
              <a:t>정확도 76.4% · 저해상 사진에서 크게 떨어짐 →  사람 검수 필수로 설정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125" y="4572000"/>
            <a:ext cx="5429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3075" y="4543425"/>
            <a:ext cx="928687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spc="8">
                <a:solidFill>
                  <a:srgbClr val="E9C9A7"/>
                </a:solidFill>
                <a:latin typeface="Mandali"/>
                <a:ea typeface="Mandali"/>
                <a:cs typeface="Mandali"/>
                <a:sym typeface="Mandali"/>
              </a:rPr>
              <a:t>손글씨 수정 메뉴는 정확도가 떨어짐. (5000원을 지우고 7000원으로 수정된 메뉴)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125" y="5429250"/>
            <a:ext cx="5429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spc="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3075" y="5400675"/>
            <a:ext cx="928687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spc="8">
                <a:solidFill>
                  <a:srgbClr val="E9C9A7"/>
                </a:solidFill>
                <a:latin typeface="Mandali"/>
                <a:ea typeface="Mandali"/>
                <a:cs typeface="Mandali"/>
                <a:sym typeface="Mandali"/>
              </a:rPr>
              <a:t>범위는 명륜캠퍼스 주변 50곳 → 다른 동네 확장 예정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72900" y="3543300"/>
            <a:ext cx="5086350" cy="2514600"/>
            <a:chOff x="0" y="0"/>
            <a:chExt cx="6781800" cy="335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81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6781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553200" y="0"/>
                  </a:lnTo>
                  <a:cubicBezTo>
                    <a:pt x="6679438" y="0"/>
                    <a:pt x="6781800" y="102362"/>
                    <a:pt x="6781800" y="228600"/>
                  </a:cubicBezTo>
                  <a:lnTo>
                    <a:pt x="6781800" y="3124200"/>
                  </a:lnTo>
                  <a:cubicBezTo>
                    <a:pt x="6781800" y="3250438"/>
                    <a:pt x="6679438" y="3352800"/>
                    <a:pt x="6553200" y="3352800"/>
                  </a:cubicBezTo>
                  <a:lnTo>
                    <a:pt x="228600" y="3352800"/>
                  </a:lnTo>
                  <a:cubicBezTo>
                    <a:pt x="102362" y="3352800"/>
                    <a:pt x="0" y="3250438"/>
                    <a:pt x="0" y="3124200"/>
                  </a:cubicBezTo>
                  <a:close/>
                </a:path>
              </a:pathLst>
            </a:custGeom>
            <a:solidFill>
              <a:srgbClr val="F26A2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144375" y="3914775"/>
            <a:ext cx="285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다음 단계 및 확장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44375" y="4486275"/>
            <a:ext cx="408622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spc="11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같은 파이프라인을</a:t>
            </a:r>
          </a:p>
          <a:p>
            <a:pPr algn="l">
              <a:lnSpc>
                <a:spcPts val="3510"/>
              </a:lnSpc>
            </a:pPr>
            <a:r>
              <a:rPr lang="en-US" sz="2925" spc="8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자연과학캠퍼스, </a:t>
            </a:r>
          </a:p>
          <a:p>
            <a:pPr algn="l">
              <a:lnSpc>
                <a:spcPts val="3510"/>
              </a:lnSpc>
            </a:pPr>
            <a:r>
              <a:rPr lang="en-US" sz="2925" spc="11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다른 동네에 적용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72900" y="6943725"/>
            <a:ext cx="508635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7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LIVE  </a:t>
            </a:r>
            <a:r>
              <a:rPr lang="en-US" sz="2025" spc="7" u="sng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  <a:hlinkClick r:id="rId2" tooltip="https://sixsense.askewly.com"/>
              </a:rPr>
              <a:t>https://sixsense.askewly.com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72900" y="7629525"/>
            <a:ext cx="55721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6">
                <a:solidFill>
                  <a:srgbClr val="E9C9A7"/>
                </a:solidFill>
                <a:latin typeface="Mandali"/>
                <a:ea typeface="Mandali"/>
                <a:cs typeface="Mandali"/>
                <a:sym typeface="Mandali"/>
              </a:rPr>
              <a:t>CODE  </a:t>
            </a:r>
            <a:r>
              <a:rPr lang="en-US" sz="1800" spc="6" u="sng">
                <a:solidFill>
                  <a:srgbClr val="E9C9A7"/>
                </a:solidFill>
                <a:latin typeface="Mandali"/>
                <a:ea typeface="Mandali"/>
                <a:cs typeface="Mandali"/>
                <a:sym typeface="Mandali"/>
                <a:hlinkClick r:id="rId3" tooltip="https://github.com/lumatic2/upstage-sixsense"/>
              </a:rPr>
              <a:t>https://github.com/lumatic2/upstage-sixsense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59250" y="9715500"/>
            <a:ext cx="5143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spc="5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0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24267" y="4429125"/>
            <a:ext cx="428625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9"/>
              </a:lnSpc>
            </a:pPr>
            <a:r>
              <a:rPr lang="en-US" sz="9274" spc="36">
                <a:solidFill>
                  <a:srgbClr val="F26A21"/>
                </a:solidFill>
                <a:latin typeface="Mandali"/>
                <a:ea typeface="Mandali"/>
                <a:cs typeface="Mandali"/>
                <a:sym typeface="Mandali"/>
              </a:rPr>
              <a:t>Q&amp;A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715500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5">
                <a:solidFill>
                  <a:srgbClr val="806F65"/>
                </a:solidFill>
                <a:latin typeface="Mandali"/>
                <a:ea typeface="Mandali"/>
                <a:cs typeface="Mandali"/>
                <a:sym typeface="Mandali"/>
              </a:rPr>
              <a:t>SIXSENSE · 한입지도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DAHQNLCBgjc</dc:identifier>
  <dcterms:modified xsi:type="dcterms:W3CDTF">2011-08-01T06:04:30Z</dcterms:modified>
  <cp:revision>1</cp:revision>
  <dc:title>메뉴판 사진을 직접 읽어 데이터로 만들고, 그 위에서 예산으로 검색합니다.</dc:title>
</cp:coreProperties>
</file>